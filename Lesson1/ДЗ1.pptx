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7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3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376" y="-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fTwF8fGiF9NC_9wAMqaqJ-UbIE3MdSavUwu6bMqrs798bRgg/viewfor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https://sun9-59.vkuserphoto.ru/s/v1/ig2/7vN93G7K7clihYDeeooSLz3pH-ST9Qb_DOzJGbAv4aQ5KXM5o_GO_q7jAKE64uc4Aql71SW4yuJPA4lz4ELcNhe1.jpg?quality=95&amp;as=32x32,48x48,72x72,108x108,160x160,240x240,360x360,480x480,540x540,640x640,720x720,736x736&amp;from=bu&amp;u=xiFR2K6HvGmMgVyZZtcX83NVB8TCu25Q4LicA0xrEX4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28600" y="-152400"/>
            <a:ext cx="9372600" cy="769620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990600" y="-381000"/>
            <a:ext cx="5105400" cy="1417638"/>
          </a:xfrm>
        </p:spPr>
        <p:txBody>
          <a:bodyPr>
            <a:normAutofit/>
          </a:bodyPr>
          <a:lstStyle/>
          <a:p>
            <a:r>
              <a:rPr lang="ru-RU" sz="4000" dirty="0" err="1" smtClean="0">
                <a:solidFill>
                  <a:schemeClr val="bg1"/>
                </a:solidFill>
                <a:latin typeface="Cascadia Code SemiLight" pitchFamily="49" charset="0"/>
                <a:cs typeface="Cascadia Code SemiLight" pitchFamily="49" charset="0"/>
              </a:rPr>
              <a:t>ДЗ-шечка</a:t>
            </a:r>
            <a:r>
              <a:rPr lang="ru-RU" sz="4000" dirty="0" smtClean="0">
                <a:solidFill>
                  <a:schemeClr val="bg1"/>
                </a:solidFill>
                <a:latin typeface="Cascadia Code SemiLight" pitchFamily="49" charset="0"/>
                <a:cs typeface="Cascadia Code SemiLight" pitchFamily="49" charset="0"/>
              </a:rPr>
              <a:t> №1</a:t>
            </a:r>
            <a:endParaRPr lang="ru-RU" sz="4000" dirty="0">
              <a:solidFill>
                <a:schemeClr val="bg1"/>
              </a:solidFill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Задача 0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Обратная связь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Необязательно, но крайне желательно)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Это поможет улучшить качество наших следующих занятий и сделать курс более продуктивным!)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Ссылка на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гугл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форму:</a:t>
            </a:r>
          </a:p>
          <a:p>
            <a:r>
              <a:rPr lang="en-US" dirty="0" smtClean="0">
                <a:latin typeface="Cascadia Code Light" pitchFamily="49" charset="0"/>
                <a:cs typeface="Cascadia Code Light" pitchFamily="49" charset="0"/>
                <a:hlinkClick r:id="rId2"/>
              </a:rPr>
              <a:t>https://docs.google.com/forms/d/e/1FAIpQLSfTwF8fGiF9NC_9wAMqaqJ-UbIE3MdSavUwu6bMqrs798bRgg/viewform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Задача № 1 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Фильтр сепии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Цель задания: Научиться обрабатывать изображения попиксельно и использовать готовые библиотечные функции для цветовых преобразований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Суть задания:  Дано цветное изображение. Нужно применить к нему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фильтр сепии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тёплый коричнево-жёлтый оттенок, как на старых фотографиях. При этом один и тот же фильтр требуется реализовать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двумя способами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: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Вручную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пройтись циклом по каждому пикселю и пересчитать каналы R, G, B по заданным формулам.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Через библиотеку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применить ту же самую матрицу коэффициентов с помощью cv2.transform().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Изображение в памяти представляется трёхмерным массивом: (высота, ширина, 3). Последняя размерность — три цветовых канала: R, G, B. Каждое число в канале задаёт интенсивность соответствующего цвета в диапазоне 0–255. Чтобы применить фильтр, нужно для каждого пикселя пересчитать значения этих трёх каналов.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Ручная реализация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Для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каждого пикселя вычислить новые значения каналов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R, G, B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 следующим формулам (коэффициенты классической сепии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):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R_new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= min(255,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int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(0.393 * R + 0.769 * G + 0.189 * B))</a:t>
            </a:r>
          </a:p>
          <a:p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G_new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= min(255,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int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(0.349 * R + 0.686 * G + 0.168 * B))</a:t>
            </a:r>
          </a:p>
          <a:p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B_new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= min(255,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int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(0.272 * R + 0.534 * G + 0.131 * B))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где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R, G, B –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исходные значения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 диапазоне 0–255 для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каждого пикселя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609600"/>
            <a:ext cx="8382000" cy="5821363"/>
          </a:xfrm>
        </p:spPr>
        <p:txBody>
          <a:bodyPr>
            <a:normAutofit fontScale="40000" lnSpcReduction="20000"/>
          </a:bodyPr>
          <a:lstStyle/>
          <a:p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Разберем одну из формул:</a:t>
            </a:r>
          </a:p>
          <a:p>
            <a:pPr>
              <a:buNone/>
            </a:pPr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	</a:t>
            </a:r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	</a:t>
            </a:r>
            <a:r>
              <a:rPr lang="en-US" sz="4000" dirty="0" err="1" smtClean="0">
                <a:latin typeface="Cascadia Code Light" pitchFamily="49" charset="0"/>
                <a:cs typeface="Cascadia Code Light" pitchFamily="49" charset="0"/>
              </a:rPr>
              <a:t>R_new</a:t>
            </a:r>
            <a:r>
              <a:rPr lang="en-US" sz="40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en-US" sz="4000" dirty="0" smtClean="0">
                <a:latin typeface="Cascadia Code Light" pitchFamily="49" charset="0"/>
                <a:cs typeface="Cascadia Code Light" pitchFamily="49" charset="0"/>
              </a:rPr>
              <a:t>= min(255, </a:t>
            </a:r>
            <a:r>
              <a:rPr lang="en-US" sz="4000" dirty="0" err="1" smtClean="0">
                <a:latin typeface="Cascadia Code Light" pitchFamily="49" charset="0"/>
                <a:cs typeface="Cascadia Code Light" pitchFamily="49" charset="0"/>
              </a:rPr>
              <a:t>int</a:t>
            </a:r>
            <a:r>
              <a:rPr lang="en-US" sz="4000" dirty="0" smtClean="0">
                <a:latin typeface="Cascadia Code Light" pitchFamily="49" charset="0"/>
                <a:cs typeface="Cascadia Code Light" pitchFamily="49" charset="0"/>
              </a:rPr>
              <a:t>(0.393 * R + 0.769 * G + 0.189 * B</a:t>
            </a:r>
            <a:r>
              <a:rPr lang="en-US" sz="4000" dirty="0" smtClean="0">
                <a:latin typeface="Cascadia Code Light" pitchFamily="49" charset="0"/>
                <a:cs typeface="Cascadia Code Light" pitchFamily="49" charset="0"/>
              </a:rPr>
              <a:t>))</a:t>
            </a:r>
            <a:endParaRPr lang="ru-RU" sz="4000" dirty="0" smtClean="0">
              <a:latin typeface="Cascadia Code Light" pitchFamily="49" charset="0"/>
              <a:cs typeface="Cascadia Code Light" pitchFamily="49" charset="0"/>
            </a:endParaRPr>
          </a:p>
          <a:p>
            <a:pPr>
              <a:buNone/>
            </a:pPr>
            <a:endParaRPr lang="ru-RU" sz="40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4000" dirty="0" err="1" smtClean="0">
                <a:latin typeface="Cascadia Code Light" pitchFamily="49" charset="0"/>
                <a:cs typeface="Cascadia Code Light" pitchFamily="49" charset="0"/>
              </a:rPr>
              <a:t>R_new</a:t>
            </a:r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 — новое значение интенсивности красного канала пикселя.</a:t>
            </a:r>
          </a:p>
          <a:p>
            <a:endParaRPr lang="ru-RU" sz="40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4000" dirty="0" err="1" smtClean="0">
                <a:latin typeface="Cascadia Code Light" pitchFamily="49" charset="0"/>
                <a:cs typeface="Cascadia Code Light" pitchFamily="49" charset="0"/>
              </a:rPr>
              <a:t>int</a:t>
            </a:r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(...) — приведение к целому числу. Промежуточный расчёт идёт в вещественных числах, а яркость канала хранится как целое число в диапазоне [0, 255]. </a:t>
            </a:r>
            <a:r>
              <a:rPr lang="ru-RU" sz="4000" dirty="0" err="1" smtClean="0">
                <a:latin typeface="Cascadia Code Light" pitchFamily="49" charset="0"/>
                <a:cs typeface="Cascadia Code Light" pitchFamily="49" charset="0"/>
              </a:rPr>
              <a:t>int</a:t>
            </a:r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 отбрасывает дробную часть.</a:t>
            </a:r>
          </a:p>
          <a:p>
            <a:endParaRPr lang="ru-RU" sz="40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0.393 * R + 0.769 * G + 0.189 * B — взвешенная сумма исходных каналов R, G, B с коэффициентами 0.393, 0.769 и 0.189 соответственно.</a:t>
            </a:r>
          </a:p>
          <a:p>
            <a:endParaRPr lang="ru-RU" sz="40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4000" dirty="0" err="1" smtClean="0">
                <a:latin typeface="Cascadia Code Light" pitchFamily="49" charset="0"/>
                <a:cs typeface="Cascadia Code Light" pitchFamily="49" charset="0"/>
              </a:rPr>
              <a:t>min</a:t>
            </a:r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(255, ...) — ограничивает результат сверху: если вычисленное значение больше 255, берётся 255. Это защищает от переполнения. Без такой защиты при приведении к типу uint8 значение могло бы «завернуться» по модулю 256: например, 260 превратилось бы в 4, а не в 255, что исказило бы изображение.</a:t>
            </a:r>
          </a:p>
          <a:p>
            <a:endParaRPr lang="ru-RU" sz="40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Аналогично работают формулы для </a:t>
            </a:r>
            <a:r>
              <a:rPr lang="ru-RU" sz="4000" dirty="0" err="1" smtClean="0">
                <a:latin typeface="Cascadia Code Light" pitchFamily="49" charset="0"/>
                <a:cs typeface="Cascadia Code Light" pitchFamily="49" charset="0"/>
              </a:rPr>
              <a:t>G_new</a:t>
            </a:r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 и </a:t>
            </a:r>
            <a:r>
              <a:rPr lang="ru-RU" sz="4000" dirty="0" err="1" smtClean="0">
                <a:latin typeface="Cascadia Code Light" pitchFamily="49" charset="0"/>
                <a:cs typeface="Cascadia Code Light" pitchFamily="49" charset="0"/>
              </a:rPr>
              <a:t>B_new</a:t>
            </a:r>
            <a:r>
              <a:rPr lang="ru-RU" sz="4000" dirty="0" smtClean="0">
                <a:latin typeface="Cascadia Code Light" pitchFamily="49" charset="0"/>
                <a:cs typeface="Cascadia Code Light" pitchFamily="49" charset="0"/>
              </a:rPr>
              <a:t>: каждая новая яркость канала — это своя взвешенная сумма старых R, G, B с последующим ограничением до 255.</a:t>
            </a:r>
            <a:endParaRPr lang="ru-RU" sz="4000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4500" b="1" dirty="0" smtClean="0">
                <a:latin typeface="Cascadia Code Light" pitchFamily="49" charset="0"/>
                <a:cs typeface="Cascadia Code Light" pitchFamily="49" charset="0"/>
              </a:rPr>
              <a:t>Библиотечную реализацию рассмотрим после реализации ручной</a:t>
            </a:r>
            <a:endParaRPr lang="ru-RU" sz="4500" b="1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2667000"/>
            <a:ext cx="7848600" cy="3810000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import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cv2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подключение библиотеки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Это основной инструмент для работы с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изображениями.</a:t>
            </a:r>
          </a:p>
          <a:p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import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as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np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подключение библиотеки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Она нужна для работы с массивами. Изображение — это трёхмерный массив чисел. С помощью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мы будем создавать матрицу сепии, работать с пикселями и обрезать значения через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np.clip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().</a:t>
            </a:r>
          </a:p>
          <a:p>
            <a:r>
              <a:rPr lang="en-US" b="1" dirty="0" smtClean="0">
                <a:latin typeface="Cascadia Code Light" pitchFamily="49" charset="0"/>
                <a:cs typeface="Cascadia Code Light" pitchFamily="49" charset="0"/>
              </a:rPr>
              <a:t>from </a:t>
            </a:r>
            <a:r>
              <a:rPr lang="en-US" b="1" dirty="0" err="1" smtClean="0">
                <a:latin typeface="Cascadia Code Light" pitchFamily="49" charset="0"/>
                <a:cs typeface="Cascadia Code Light" pitchFamily="49" charset="0"/>
              </a:rPr>
              <a:t>google.colab</a:t>
            </a:r>
            <a:r>
              <a:rPr lang="en-US" b="1" dirty="0" smtClean="0">
                <a:latin typeface="Cascadia Code Light" pitchFamily="49" charset="0"/>
                <a:cs typeface="Cascadia Code Light" pitchFamily="49" charset="0"/>
              </a:rPr>
              <a:t> import files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—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импорт модуля </a:t>
            </a:r>
            <a:r>
              <a:rPr lang="en-US" b="1" dirty="0" smtClean="0">
                <a:latin typeface="Cascadia Code Light" pitchFamily="49" charset="0"/>
                <a:cs typeface="Cascadia Code Light" pitchFamily="49" charset="0"/>
              </a:rPr>
              <a:t>files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из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Google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Colab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.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Поскольку мы работаем в облачной среде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Colab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эта строка позволяет вызвать окно загрузки файлов с нашего компьютера прямо в блокнот (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files.upload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()).</a:t>
            </a:r>
          </a:p>
          <a:p>
            <a:r>
              <a:rPr lang="en-US" b="1" dirty="0" smtClean="0">
                <a:latin typeface="Cascadia Code Light" pitchFamily="49" charset="0"/>
                <a:cs typeface="Cascadia Code Light" pitchFamily="49" charset="0"/>
              </a:rPr>
              <a:t>import </a:t>
            </a:r>
            <a:r>
              <a:rPr lang="en-US" b="1" dirty="0" err="1" smtClean="0">
                <a:latin typeface="Cascadia Code Light" pitchFamily="49" charset="0"/>
                <a:cs typeface="Cascadia Code Light" pitchFamily="49" charset="0"/>
              </a:rPr>
              <a:t>matplotlib.pyplot</a:t>
            </a:r>
            <a:r>
              <a:rPr lang="en-US" b="1" dirty="0" smtClean="0">
                <a:latin typeface="Cascadia Code Light" pitchFamily="49" charset="0"/>
                <a:cs typeface="Cascadia Code Light" pitchFamily="49" charset="0"/>
              </a:rPr>
              <a:t> as </a:t>
            </a:r>
            <a:r>
              <a:rPr lang="en-US" b="1" dirty="0" err="1" smtClean="0">
                <a:latin typeface="Cascadia Code Light" pitchFamily="49" charset="0"/>
                <a:cs typeface="Cascadia Code Light" pitchFamily="49" charset="0"/>
              </a:rPr>
              <a:t>plt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—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подключение библиотеки </a:t>
            </a:r>
            <a:r>
              <a:rPr lang="en-US" b="1" dirty="0" err="1" smtClean="0">
                <a:latin typeface="Cascadia Code Light" pitchFamily="49" charset="0"/>
                <a:cs typeface="Cascadia Code Light" pitchFamily="49" charset="0"/>
              </a:rPr>
              <a:t>Matplotlib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.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Она отвечает за визуализацию. 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914400"/>
            <a:ext cx="7773987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33400" y="381001"/>
            <a:ext cx="64008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В первой ячейке – импорт библиотек</a:t>
            </a:r>
            <a:endParaRPr lang="ru-RU" sz="24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3657600"/>
            <a:ext cx="8077200" cy="274320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Ячейка 2 при запуске позволяет загрузить для работы изображение с вашего компьютера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Также вы можете реализовать загрузку изображения из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data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как мы делали в блокноте занятия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from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skimage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 import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data</a:t>
            </a:r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en-US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762000"/>
            <a:ext cx="6172200" cy="2345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Для любознательных: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uploaded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files.upload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()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— вызывает интерактивное окно для загрузки файла с вашего компьютера. После выбора файл сохраняется в виртуальную среду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Colab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filename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 = 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next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iter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uploaded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))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— извлекает имя загруженного файла из полученного словаря. Это имя нам понадобится, чтобы передать его в функцию чтения.</a:t>
            </a:r>
          </a:p>
          <a:p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img_bgr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 = cv2.imread(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filename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)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— читает изображение с помощью библиотеки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. (формат 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BGR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)</a:t>
            </a: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plt.figure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figsize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=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(15, 5))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— создаёт новую фигуру для вывода изображения. Параметр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figsize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задаёт ширину и высоту будущего графика.</a:t>
            </a:r>
          </a:p>
          <a:p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plt.imshow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img_bgr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)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— выводит изображение на 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экран.  </a:t>
            </a: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plt.axis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('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off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')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— отключает отображение осей координат (цифр по бокам), чтобы не загромождать картинку.</a:t>
            </a:r>
          </a:p>
          <a:p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plt.show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()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— финальный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рендеринг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и показ фигуры.</a:t>
            </a:r>
          </a:p>
          <a:p>
            <a:endParaRPr lang="ru-RU" sz="16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457200"/>
            <a:ext cx="8305800" cy="2285999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Matplotlib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ожидает порядок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RGB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а мы передали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BGR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на экране цвета могут быть инвертированы (красный станет синим, синий — красным). Это нормально, и в следующей ячейке мы это исправим.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743200"/>
            <a:ext cx="4467225" cy="3772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457200"/>
            <a:ext cx="8077200" cy="2819399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 следующей ячейке требуется реализовать преобразование из пространства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BGR -&gt; RGB. 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Это выполняется через функцию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cvtColor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библиотеки </a:t>
            </a:r>
            <a:r>
              <a:rPr lang="en-US" dirty="0" smtClean="0">
                <a:latin typeface="Cascadia Code Light" pitchFamily="49" charset="0"/>
                <a:cs typeface="Cascadia Code Light" pitchFamily="49" charset="0"/>
              </a:rPr>
              <a:t>cv2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 качестве аргументов передаем массив, который хранит исходное загруженное изображение (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img_bgr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 и правильную константу, соответствующую требуемому преобразовани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ю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Результат складываем в переменную </a:t>
            </a:r>
            <a:r>
              <a:rPr lang="en-US" dirty="0" err="1" smtClean="0">
                <a:latin typeface="Cascadia Code Light" pitchFamily="49" charset="0"/>
                <a:cs typeface="Cascadia Code Light" pitchFamily="49" charset="0"/>
              </a:rPr>
              <a:t>img_rgb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886200"/>
            <a:ext cx="8259763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5105400"/>
            <a:ext cx="8153400" cy="1401763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Следующая ячейка призвана отобразить, что ваши старания были не напрасны)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52400"/>
            <a:ext cx="4114800" cy="4571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381001"/>
            <a:ext cx="8686800" cy="3962400"/>
          </a:xfrm>
        </p:spPr>
        <p:txBody>
          <a:bodyPr>
            <a:noAutofit/>
          </a:bodyPr>
          <a:lstStyle/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Приступаем к ручной реализации фильтра сепии.</a:t>
            </a:r>
            <a:endParaRPr lang="ru-RU" sz="12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Внутри функции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sepia_manual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которая принимает на вход массив с изображением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img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необходимо выполнить следующие шаги: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Узнать размеры изображения.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12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Для этого используется атрибут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shape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который есть у всех массивов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. Он хранит форму массива: высоту, ширину и число каналов.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Создать новый массив такого же размера, заполненный нулями.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12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Удобно воспользоваться функцией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np.zeros_like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передав ей исходный массив. Она создаст массив той же формы, все элементы которого равны 0. Назовём его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result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Пройти циклом по каждому пикселю.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12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Для этого нужны два вложенных цикла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for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:</a:t>
            </a:r>
          </a:p>
          <a:p>
            <a:pPr lvl="1"/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внешний — по строкам (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y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от 0 до h-1);</a:t>
            </a:r>
          </a:p>
          <a:p>
            <a:pPr lvl="1"/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внутренний — по пикселям в каждой строке (</a:t>
            </a:r>
            <a:r>
              <a:rPr lang="ru-RU" sz="1100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sz="1100" dirty="0" smtClean="0">
                <a:latin typeface="Cascadia Code Light" pitchFamily="49" charset="0"/>
                <a:cs typeface="Cascadia Code Light" pitchFamily="49" charset="0"/>
              </a:rPr>
              <a:t> от 0 до w-1).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Считать значения каналов текущего пикселя.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12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По-питоновски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это можно записать так: R, G, B =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img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[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y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].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Вычислить новые значения каналов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new_R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new_G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new_B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по формулам сепии.</a:t>
            </a:r>
            <a:br>
              <a:rPr lang="ru-RU" sz="12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Важно не забыть про ограничение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min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(255,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int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(...)), чтобы не выйти за допустимый диапазон 0–255.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Записать вычисленные значения в массив </a:t>
            </a:r>
            <a:r>
              <a:rPr lang="ru-RU" sz="1200" b="1" dirty="0" err="1" smtClean="0">
                <a:latin typeface="Cascadia Code Light" pitchFamily="49" charset="0"/>
                <a:cs typeface="Cascadia Code Light" pitchFamily="49" charset="0"/>
              </a:rPr>
              <a:t>result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на место текущего пикселя:</a:t>
            </a:r>
            <a:br>
              <a:rPr lang="ru-RU" sz="12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result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[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y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x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] = [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new_R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new_G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new_B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].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После завершения циклов вернуть массив </a:t>
            </a:r>
            <a:r>
              <a:rPr lang="ru-RU" sz="1200" b="1" dirty="0" err="1" smtClean="0">
                <a:latin typeface="Cascadia Code Light" pitchFamily="49" charset="0"/>
                <a:cs typeface="Cascadia Code Light" pitchFamily="49" charset="0"/>
              </a:rPr>
              <a:t>result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как результат работы функции с помощью оператора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return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200" b="1" dirty="0" smtClean="0">
                <a:latin typeface="Cascadia Code Light" pitchFamily="49" charset="0"/>
                <a:cs typeface="Cascadia Code Light" pitchFamily="49" charset="0"/>
              </a:rPr>
              <a:t>Полученный результат будет записан в переменную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img_manual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en-US" sz="600" dirty="0" smtClean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5029200"/>
            <a:ext cx="7926388" cy="1445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Библиотечная реализация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Необходимо реализовать тот же фильтр сепии, но не через циклы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for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а с помощью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матричного преобразования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 Для этого используется встроенная функция библиотеки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cv2.transform(). Такой подход работает быстрее и компактнее, так как все пиксели обрабатываются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векторно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без явного перебора.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Суть метода: каждый пиксель (R, G, B) умножается на матрицу коэффициентов 3x3. Результат — новые значения каналов, которые затем нужно привести к стандартному диапазону и типу.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306763"/>
          </a:xfrm>
        </p:spPr>
        <p:txBody>
          <a:bodyPr>
            <a:noAutofit/>
          </a:bodyPr>
          <a:lstStyle/>
          <a:p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Создание матрицы перехода</a:t>
            </a:r>
            <a:endParaRPr lang="ru-RU" sz="14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Матрица сепии создаётся как двумерный массив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NumPy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с именем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sepia_matrix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. В ней:</a:t>
            </a:r>
          </a:p>
          <a:p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по строкам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располагаются коэффициенты для новых каналов: первая строка — для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R_new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, вторая — для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G_new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, третья — для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B_new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;</a:t>
            </a:r>
          </a:p>
          <a:p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по столбцам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— коэффициенты при исходных каналах: первый столбец — при R, второй — при G, третий — при B.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То есть элемент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sepia_matrix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[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i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][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j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] — это вес, с которым исходный канал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j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входит в формулу для нового канала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i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Например, первая строка [0.393, 0.769, 0.189] означает, что</a:t>
            </a:r>
            <a:br>
              <a:rPr lang="ru-RU" sz="14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R_new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= 0.393 * R + 0.769 * G + 0.189 * B.</a:t>
            </a:r>
          </a:p>
          <a:p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При создании матрицы важно сразу указать dtype=np.float32 — это требование cv2.transform(), которая выполняет матричное умножение для каждого пикселя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ru-RU" sz="14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400" b="1" dirty="0" smtClean="0">
                <a:latin typeface="Cascadia Code Light" pitchFamily="49" charset="0"/>
                <a:cs typeface="Cascadia Code Light" pitchFamily="49" charset="0"/>
              </a:rPr>
              <a:t>Далее нужно дописать 2 строчки кода</a:t>
            </a:r>
            <a:endParaRPr lang="ru-RU" sz="1400" b="1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737" y="457200"/>
            <a:ext cx="8450263" cy="2335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533400"/>
            <a:ext cx="8305800" cy="5592763"/>
          </a:xfrm>
        </p:spPr>
        <p:txBody>
          <a:bodyPr>
            <a:noAutofit/>
          </a:bodyPr>
          <a:lstStyle/>
          <a:p>
            <a:r>
              <a:rPr lang="ru-RU" sz="1800" b="1" dirty="0" smtClean="0">
                <a:latin typeface="Cascadia Code Light" pitchFamily="49" charset="0"/>
                <a:cs typeface="Cascadia Code Light" pitchFamily="49" charset="0"/>
              </a:rPr>
              <a:t>Первая строка — применение матричного преобразования:</a:t>
            </a:r>
            <a:endParaRPr lang="ru-RU" sz="1800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sz="18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Выполняется через функцию 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cv2.transform() 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.</a:t>
            </a:r>
            <a:endParaRPr lang="ru-RU" sz="18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cv2.transform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() — функция 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, которая применяет матричное преобразование к каждому пикселю изображения. Она умножает вектор каналов (R, G, B) на матрицу 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sepia_matrix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 и возвращает новый вектор (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R_new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G_new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B_new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).</a:t>
            </a:r>
          </a:p>
          <a:p>
            <a:r>
              <a:rPr lang="ru-RU" sz="1800" b="1" dirty="0" smtClean="0">
                <a:latin typeface="Cascadia Code Light" pitchFamily="49" charset="0"/>
                <a:cs typeface="Cascadia Code Light" pitchFamily="49" charset="0"/>
              </a:rPr>
              <a:t>Первый аргумент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 — изображение, к которому применяется преобразование. Но cv2.transform() требует, чтобы данные были вещественными (обычно float32). Исходное изображение 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img_rgb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 имеет тип uint8, поэтому мы вызываем .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astype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(np.float32). Это создаёт временную копию изображения в нужном формате.</a:t>
            </a:r>
          </a:p>
          <a:p>
            <a:r>
              <a:rPr lang="ru-RU" sz="1800" b="1" dirty="0" smtClean="0">
                <a:latin typeface="Cascadia Code Light" pitchFamily="49" charset="0"/>
                <a:cs typeface="Cascadia Code Light" pitchFamily="49" charset="0"/>
              </a:rPr>
              <a:t>Второй аргумент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 — матрица преобразования 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sepia_matrix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. Она уже создана с dtype=np.float32, поэтому подходит.</a:t>
            </a:r>
          </a:p>
          <a:p>
            <a:r>
              <a:rPr lang="ru-RU" sz="1800" b="1" dirty="0" smtClean="0">
                <a:latin typeface="Cascadia Code Light" pitchFamily="49" charset="0"/>
                <a:cs typeface="Cascadia Code Light" pitchFamily="49" charset="0"/>
              </a:rPr>
              <a:t>Результат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 — новое изображение в вещественном формате, где значения каналов могут выходить за пределы [0, 255]. Мы сохраняем его в переменную </a:t>
            </a:r>
            <a:r>
              <a:rPr lang="ru-RU" sz="1800" dirty="0" err="1" smtClean="0">
                <a:latin typeface="Cascadia Code Light" pitchFamily="49" charset="0"/>
                <a:cs typeface="Cascadia Code Light" pitchFamily="49" charset="0"/>
              </a:rPr>
              <a:t>img_lib</a:t>
            </a:r>
            <a:r>
              <a:rPr lang="ru-RU" sz="1800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ru-RU" sz="18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228600"/>
            <a:ext cx="8382000" cy="5897563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Вторая строка — обрезка и приведение к стандартному типу: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После умножения пикселей на матрицу сепии значения каналов перестают быть целыми и могут выходить за пределы 0–255: у ярких пикселей они превышают 255, а дробная часть появляется из-за вещественных коэффициентов. Чтобы изображение можно было корректно отобразить, значения нужно вернуть в допустимый диапазон и к целому типу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Сигнатура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np.clip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().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np.clip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a_min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a_max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массив, который нужно ограничить (у нас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img_lib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);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a_min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нижняя граница (0): всё, что меньше, станет 0;</a:t>
            </a:r>
          </a:p>
          <a:p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a_max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верхняя граница (255): всё, что больше, станет 255.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Функция возвращает новый массив с обрезанными значениями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Зачем .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astype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(np.uint8).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np.clip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возвращает массив в том же типе, в котором он был (float32). Метод .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astype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(np.uint8) приводит его к 8-битному целочисленному типу — стандартному формату изображений, который понимают 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OpenCV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Matplotlib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Результат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снова записывается в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img_lib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чтобы не плодить лишние переменные.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5638800"/>
            <a:ext cx="8305800" cy="1020763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Эта ячейка выводит на экран три изображения рядом, чтобы можно было сравнить результат ручной и библиотечной реализации фильтра сепии с оригиналом.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81000"/>
            <a:ext cx="5529093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Для любознательных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Что делает код:</a:t>
            </a: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Создаёт общую фигуру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16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plt.figure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figsize=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(15, 5)) — задаёт размер будущего изображения (ширина 15, высота 5 дюймов). Это нужно, чтобы три картинки поместились в ряд и не были сжаты.</a:t>
            </a:r>
          </a:p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Размещает три подобласти (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subplot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) в одной строке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16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plt.subplot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(1, 3, N) — первые два числа означают «1 строка, 3 столбца», третье число N — номер текущей ячейки (1, 2 или 3).</a:t>
            </a:r>
          </a:p>
          <a:p>
            <a:pPr lvl="1"/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N = 1 — оригинал,</a:t>
            </a:r>
          </a:p>
          <a:p>
            <a:pPr lvl="1"/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N = 2 — ручная сепия,</a:t>
            </a:r>
          </a:p>
          <a:p>
            <a:pPr lvl="1"/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N = 3 — библиотечная сепия.</a:t>
            </a:r>
          </a:p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Для каждой подобласти выводит изображение и подпись</a:t>
            </a: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pPr lvl="1"/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plt.imshow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(...) — отображает массив как картинку.</a:t>
            </a:r>
          </a:p>
          <a:p>
            <a:pPr lvl="1"/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plt.title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('...') — добавляет заголовок над изображением.</a:t>
            </a:r>
          </a:p>
          <a:p>
            <a:pPr lvl="1"/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plt.axis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('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off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') — убирает оси координат и рамку, чтобы они не отвлекали от содержимого.</a:t>
            </a:r>
          </a:p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Показывает итоговую фигуру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sz="1600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plt.show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() — команда, которая выводит собранную фигуру на экран.</a:t>
            </a:r>
          </a:p>
          <a:p>
            <a:endParaRPr lang="ru-RU" sz="16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Результат работы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62200"/>
            <a:ext cx="8566249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Задача №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2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Построение нейрона-детектора красных оттенков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2743200"/>
            <a:ext cx="8153400" cy="3382963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Цель: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Научиться подбирать веса и смещение для одного искусственного нейрона 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перцептрона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 с пороговой функцией активации, чтобы он корректно классифицировал заданный набор цветов как «красный» (1) или «не красный» (0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Дано: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20 цветов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в формате RGB (каждый канал от 0 до 255).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Для каждого цвета указана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метка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: 1 — если цвет должен детектироваться как красный, 0 — если нет.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Список цветов и их меток приведён в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коде.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Задача: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Написать класс нейрона 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Neuron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), который хранит веса и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смещение (как в блокноте занятия).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Реализовать метод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predict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(R, G, B), который:</a:t>
            </a:r>
          </a:p>
          <a:p>
            <a:pPr lvl="1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вычисляет взвешенную сумму каналов;</a:t>
            </a:r>
          </a:p>
          <a:p>
            <a:pPr lvl="1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применяет пороговую функцию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активации (или функцию активации на Ваше усмотрение);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pPr lvl="1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возвращает 1 или 0.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Подобрать значения весов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(для R, G, B) и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смещения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так, чтобы нейрон правильно классифицировал все 20 цветов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</a:p>
          <a:p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Ключевая идея: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Нейрон должен «понять», что красный оттенок — это когда канал R выражен сильнее, чем G и B. Поэтому веса подбираются так, чтобы R давал положительный вклад, а G и B — отрицательный. Смещение позволяет сдвинуть порог срабатывания.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04800"/>
            <a:ext cx="8305800" cy="5821363"/>
          </a:xfrm>
        </p:spPr>
        <p:txBody>
          <a:bodyPr/>
          <a:lstStyle/>
          <a:p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В ячейке 1 – импорт библиотек и данные – 20 цветов в формате </a:t>
            </a:r>
            <a:r>
              <a:rPr lang="en-US" sz="2400" dirty="0" smtClean="0">
                <a:latin typeface="Cascadia Code Light" pitchFamily="49" charset="0"/>
                <a:cs typeface="Cascadia Code Light" pitchFamily="49" charset="0"/>
              </a:rPr>
              <a:t>RGB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 в массиве </a:t>
            </a:r>
            <a:r>
              <a:rPr lang="en-US" sz="2400" dirty="0" smtClean="0">
                <a:latin typeface="Cascadia Code Light" pitchFamily="49" charset="0"/>
                <a:cs typeface="Cascadia Code Light" pitchFamily="49" charset="0"/>
              </a:rPr>
              <a:t>colors</a:t>
            </a:r>
            <a:r>
              <a:rPr lang="ru-RU" sz="2400" dirty="0" smtClean="0">
                <a:latin typeface="Cascadia Code Light" pitchFamily="49" charset="0"/>
                <a:cs typeface="Cascadia Code Light" pitchFamily="49" charset="0"/>
              </a:rPr>
              <a:t> и метки к ним. Метки хранятся  в массиве </a:t>
            </a:r>
            <a:r>
              <a:rPr lang="en-US" sz="2400" dirty="0" smtClean="0">
                <a:latin typeface="Cascadia Code Light" pitchFamily="49" charset="0"/>
                <a:cs typeface="Cascadia Code Light" pitchFamily="49" charset="0"/>
              </a:rPr>
              <a:t>labels.</a:t>
            </a:r>
          </a:p>
          <a:p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752600"/>
            <a:ext cx="5418052" cy="4798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236220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 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этой ячейке нужно: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Написать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класс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Neuron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описывающий один искусственный нейрон.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Создать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экземпляр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этого класса с именем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my_neuron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задав ему конкретные значения весов и смещения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.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150" y="4038600"/>
            <a:ext cx="8578850" cy="1394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381000"/>
            <a:ext cx="9144000" cy="6477000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Что требуется сделать — по шагам:</a:t>
            </a:r>
            <a:endParaRPr lang="ru-RU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Объявить класс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Neuron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.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Внутри класса описать метод-конструктор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__init__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, который принимает и сохраняет параметры нейрона:</a:t>
            </a:r>
          </a:p>
          <a:p>
            <a:pPr lvl="1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w1, w2, w3 — веса для трёх цветовых каналов (R, G, B);</a:t>
            </a:r>
          </a:p>
          <a:p>
            <a:pPr lvl="1"/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смещение (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bias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).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 подсказке №1: каналов три, значит весов тоже три, плюс одно смещение — итого 4 настраиваемых параметра.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Добавить метод 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predict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b="1" dirty="0" err="1" smtClean="0">
                <a:latin typeface="Cascadia Code Light" pitchFamily="49" charset="0"/>
                <a:cs typeface="Cascadia Code Light" pitchFamily="49" charset="0"/>
              </a:rPr>
              <a:t>self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, R, G, B).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Метод принимает значения трёх каналов одного цвета и возвращает:</a:t>
            </a:r>
          </a:p>
          <a:p>
            <a:pPr lvl="1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1, если цвет распознан как «красный»;</a:t>
            </a:r>
          </a:p>
          <a:p>
            <a:pPr lvl="1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0, если нет.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Внутри метода нужно:</a:t>
            </a:r>
          </a:p>
          <a:p>
            <a:pPr lvl="1"/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вычислить взвешенную сумму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каналов с учётом смещения: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z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= w1 * R + w2 * G + w3 * B +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;</a:t>
            </a:r>
          </a:p>
          <a:p>
            <a:pPr lvl="1"/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применить пороговую функцию активации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(подсказка №2):</a:t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если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z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&gt; 0, вернуть 1, иначе — 0.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Создать экземпляр класса.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/>
            </a:r>
            <a:br>
              <a:rPr lang="ru-RU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После описания класса создать переменную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my_neuron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и передать в неё подобранные значения весов и смещения. Логика подбора:</a:t>
            </a:r>
          </a:p>
          <a:p>
            <a:pPr lvl="1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красный канал R должен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увеличивать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сумму → вес положительный;</a:t>
            </a:r>
          </a:p>
          <a:p>
            <a:pPr lvl="1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зелёный и синий должны </a:t>
            </a:r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уменьшать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сумму → веса отрицательные;</a:t>
            </a:r>
          </a:p>
          <a:p>
            <a:pPr lvl="1"/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смещение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b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сдвигает порог срабатывания, чтобы отсеять тёмные и почти серые оттенки.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5410200"/>
            <a:ext cx="8229600" cy="1173163"/>
          </a:xfrm>
        </p:spPr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Последняя ячейка предназначена для проверки вашего нейрона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8135938" cy="462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Для любопытных</a:t>
            </a:r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4525963"/>
          </a:xfrm>
        </p:spPr>
        <p:txBody>
          <a:bodyPr>
            <a:noAutofit/>
          </a:bodyPr>
          <a:lstStyle/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Ч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то 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делает функция 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test_neuron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b="1" dirty="0" err="1" smtClean="0">
                <a:latin typeface="Cascadia Code Light" pitchFamily="49" charset="0"/>
                <a:cs typeface="Cascadia Code Light" pitchFamily="49" charset="0"/>
              </a:rPr>
              <a:t>neuron</a:t>
            </a:r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):</a:t>
            </a: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Принимает на вход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объект нейрона (в нашем случае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my_neuron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).</a:t>
            </a:r>
          </a:p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Готовит счётчики:</a:t>
            </a: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pPr lvl="1"/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correct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= 0 — число правильных ответов;</a:t>
            </a:r>
          </a:p>
          <a:p>
            <a:pPr lvl="1"/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errors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= [] — список цветов, на которых нейрон ошибся.</a:t>
            </a:r>
          </a:p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Проходит циклом по всем 20 цветам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из списка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colors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:</a:t>
            </a:r>
          </a:p>
          <a:p>
            <a:pPr lvl="1"/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enumerate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colors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) даёт сразу и индекс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i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, и сам цвет в виде трёх значений (R, G, B);</a:t>
            </a:r>
          </a:p>
          <a:p>
            <a:pPr lvl="1"/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вызывает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neuron.predict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(R, G, B) — получает предсказание нейрона (0 или 1);</a:t>
            </a:r>
          </a:p>
          <a:p>
            <a:pPr lvl="1"/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сравнивает его с истинной меткой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labels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[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i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]:</a:t>
            </a:r>
          </a:p>
          <a:p>
            <a:pPr lvl="2"/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если совпало — увеличивает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correct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;</a:t>
            </a:r>
          </a:p>
          <a:p>
            <a:pPr lvl="2"/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если нет — записывает информацию об ошибке в список </a:t>
            </a:r>
            <a:r>
              <a:rPr lang="ru-RU" sz="1200" dirty="0" err="1" smtClean="0">
                <a:latin typeface="Cascadia Code Light" pitchFamily="49" charset="0"/>
                <a:cs typeface="Cascadia Code Light" pitchFamily="49" charset="0"/>
              </a:rPr>
              <a:t>errors</a:t>
            </a:r>
            <a:r>
              <a:rPr lang="ru-RU" sz="1200" dirty="0" smtClean="0">
                <a:latin typeface="Cascadia Code Light" pitchFamily="49" charset="0"/>
                <a:cs typeface="Cascadia Code Light" pitchFamily="49" charset="0"/>
              </a:rPr>
              <a:t> (индекс, цвет, ожидаемую метку и полученную).</a:t>
            </a:r>
          </a:p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Считает точность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по формуле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correct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 / 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len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(</a:t>
            </a:r>
            <a:r>
              <a:rPr lang="ru-RU" sz="1600" dirty="0" err="1" smtClean="0">
                <a:latin typeface="Cascadia Code Light" pitchFamily="49" charset="0"/>
                <a:cs typeface="Cascadia Code Light" pitchFamily="49" charset="0"/>
              </a:rPr>
              <a:t>colors</a:t>
            </a:r>
            <a:r>
              <a:rPr lang="ru-RU" sz="1600" dirty="0" smtClean="0">
                <a:latin typeface="Cascadia Code Light" pitchFamily="49" charset="0"/>
                <a:cs typeface="Cascadia Code Light" pitchFamily="49" charset="0"/>
              </a:rPr>
              <a:t>) * 100 и выводит её в формате Точность: XX.X% (N/20).</a:t>
            </a:r>
          </a:p>
          <a:p>
            <a:r>
              <a:rPr lang="ru-RU" sz="1600" b="1" dirty="0" smtClean="0">
                <a:latin typeface="Cascadia Code Light" pitchFamily="49" charset="0"/>
                <a:cs typeface="Cascadia Code Light" pitchFamily="49" charset="0"/>
              </a:rPr>
              <a:t>Выводит результат:</a:t>
            </a:r>
            <a:endParaRPr lang="ru-RU" sz="1600" dirty="0" smtClean="0">
              <a:latin typeface="Cascadia Code Light" pitchFamily="49" charset="0"/>
              <a:cs typeface="Cascadia Code Light" pitchFamily="49" charset="0"/>
            </a:endParaRPr>
          </a:p>
          <a:p>
            <a:pPr lvl="1"/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если список </a:t>
            </a:r>
            <a:r>
              <a:rPr lang="ru-RU" sz="1400" dirty="0" err="1" smtClean="0">
                <a:latin typeface="Cascadia Code Light" pitchFamily="49" charset="0"/>
                <a:cs typeface="Cascadia Code Light" pitchFamily="49" charset="0"/>
              </a:rPr>
              <a:t>errors</a:t>
            </a:r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 не пуст — печатает все ошибки с расшифровкой;</a:t>
            </a:r>
          </a:p>
          <a:p>
            <a:pPr lvl="1"/>
            <a:r>
              <a:rPr lang="ru-RU" sz="1400" dirty="0" smtClean="0">
                <a:latin typeface="Cascadia Code Light" pitchFamily="49" charset="0"/>
                <a:cs typeface="Cascadia Code Light" pitchFamily="49" charset="0"/>
              </a:rPr>
              <a:t>если пуст — выводит сообщение «ВЕРНО! Все цвета классифицированы правильно».</a:t>
            </a:r>
          </a:p>
          <a:p>
            <a:endParaRPr lang="ru-RU" sz="1600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latin typeface="Cascadia Code Light" pitchFamily="49" charset="0"/>
                <a:cs typeface="Cascadia Code Light" pitchFamily="49" charset="0"/>
              </a:rPr>
              <a:t>Доп. задача</a:t>
            </a:r>
            <a:r>
              <a:rPr lang="ru-RU" sz="3600" b="1" dirty="0" smtClean="0">
                <a:latin typeface="Cascadia Code Light" pitchFamily="49" charset="0"/>
                <a:cs typeface="Cascadia Code Light" pitchFamily="49" charset="0"/>
              </a:rPr>
              <a:t>.</a:t>
            </a:r>
            <a:br>
              <a:rPr lang="ru-RU" sz="3600" b="1" dirty="0" smtClean="0">
                <a:latin typeface="Cascadia Code Light" pitchFamily="49" charset="0"/>
                <a:cs typeface="Cascadia Code Light" pitchFamily="49" charset="0"/>
              </a:rPr>
            </a:br>
            <a:r>
              <a:rPr lang="ru-RU" sz="3600" b="1" dirty="0" smtClean="0">
                <a:latin typeface="Cascadia Code Light" pitchFamily="49" charset="0"/>
                <a:cs typeface="Cascadia Code Light" pitchFamily="49" charset="0"/>
              </a:rPr>
              <a:t> </a:t>
            </a:r>
            <a:r>
              <a:rPr lang="ru-RU" sz="3600" b="1" dirty="0" smtClean="0">
                <a:latin typeface="Cascadia Code Light" pitchFamily="49" charset="0"/>
                <a:cs typeface="Cascadia Code Light" pitchFamily="49" charset="0"/>
              </a:rPr>
              <a:t>«Нейрон </a:t>
            </a:r>
            <a:r>
              <a:rPr lang="ru-RU" sz="3600" b="1" dirty="0" err="1" smtClean="0">
                <a:latin typeface="Cascadia Code Light" pitchFamily="49" charset="0"/>
                <a:cs typeface="Cascadia Code Light" pitchFamily="49" charset="0"/>
              </a:rPr>
              <a:t>vs</a:t>
            </a:r>
            <a:r>
              <a:rPr lang="ru-RU" sz="3600" b="1" dirty="0" smtClean="0">
                <a:latin typeface="Cascadia Code Light" pitchFamily="49" charset="0"/>
                <a:cs typeface="Cascadia Code Light" pitchFamily="49" charset="0"/>
              </a:rPr>
              <a:t> Цветовая маска»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1000" y="1828800"/>
            <a:ext cx="8305800" cy="4297363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Цель: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сравнить два подхода к выделению красного цвета на изображении: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Классический CV-подход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HSV-маска.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ML-подход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— один искусственный нейрон, применённый ко всем пикселям сразу.</a:t>
            </a:r>
          </a:p>
          <a:p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Понять, в чём разница между подходами и когда какой удобнее.</a:t>
            </a:r>
          </a:p>
          <a:p>
            <a:r>
              <a:rPr lang="ru-RU" b="1" dirty="0" smtClean="0">
                <a:latin typeface="Cascadia Code Light" pitchFamily="49" charset="0"/>
                <a:cs typeface="Cascadia Code Light" pitchFamily="49" charset="0"/>
              </a:rPr>
              <a:t>Дано: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 изображение </a:t>
            </a:r>
            <a:r>
              <a:rPr lang="ru-RU" dirty="0" err="1" smtClean="0">
                <a:latin typeface="Cascadia Code Light" pitchFamily="49" charset="0"/>
                <a:cs typeface="Cascadia Code Light" pitchFamily="49" charset="0"/>
              </a:rPr>
              <a:t>data.astronaut</a:t>
            </a:r>
            <a:r>
              <a:rPr lang="ru-RU" dirty="0" smtClean="0">
                <a:latin typeface="Cascadia Code Light" pitchFamily="49" charset="0"/>
                <a:cs typeface="Cascadia Code Light" pitchFamily="49" charset="0"/>
              </a:rPr>
              <a:t>() (или своё — с наличием красных элементов).</a:t>
            </a:r>
          </a:p>
          <a:p>
            <a:endParaRPr lang="ru-RU" dirty="0">
              <a:latin typeface="Cascadia Code Light" pitchFamily="49" charset="0"/>
              <a:cs typeface="Cascadia Code Light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1530</Words>
  <Application>Microsoft Office PowerPoint</Application>
  <PresentationFormat>Экран (4:3)</PresentationFormat>
  <Paragraphs>170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Office Theme</vt:lpstr>
      <vt:lpstr>ДЗ-шечка №1</vt:lpstr>
      <vt:lpstr>Задача 0 Обратная связь</vt:lpstr>
      <vt:lpstr>Задача № 1  Фильтр сепии</vt:lpstr>
      <vt:lpstr>Слайд 4</vt:lpstr>
      <vt:lpstr>Ручная реализация</vt:lpstr>
      <vt:lpstr>Слайд 6</vt:lpstr>
      <vt:lpstr>Слайд 7</vt:lpstr>
      <vt:lpstr>Слайд 8</vt:lpstr>
      <vt:lpstr>Для любознательных:</vt:lpstr>
      <vt:lpstr>Слайд 10</vt:lpstr>
      <vt:lpstr>Слайд 11</vt:lpstr>
      <vt:lpstr>Слайд 12</vt:lpstr>
      <vt:lpstr>Слайд 13</vt:lpstr>
      <vt:lpstr>Библиотечная реализация</vt:lpstr>
      <vt:lpstr>Слайд 15</vt:lpstr>
      <vt:lpstr>Слайд 16</vt:lpstr>
      <vt:lpstr>Слайд 17</vt:lpstr>
      <vt:lpstr>Слайд 18</vt:lpstr>
      <vt:lpstr>Для любознательных</vt:lpstr>
      <vt:lpstr>Слайд 20</vt:lpstr>
      <vt:lpstr>Задача № 2  Построение нейрона-детектора красных оттенков</vt:lpstr>
      <vt:lpstr>Слайд 22</vt:lpstr>
      <vt:lpstr>Слайд 23</vt:lpstr>
      <vt:lpstr>Слайд 24</vt:lpstr>
      <vt:lpstr>Слайд 25</vt:lpstr>
      <vt:lpstr>Слайд 26</vt:lpstr>
      <vt:lpstr>Для любопытных</vt:lpstr>
      <vt:lpstr>Доп. задача.  «Нейрон vs Цветовая маска»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Вера Пономаренко</dc:creator>
  <cp:lastModifiedBy>Вера Пономаренко</cp:lastModifiedBy>
  <cp:revision>23</cp:revision>
  <dcterms:created xsi:type="dcterms:W3CDTF">2026-09-24T11:29:43Z</dcterms:created>
  <dcterms:modified xsi:type="dcterms:W3CDTF">2026-09-26T10:29:53Z</dcterms:modified>
</cp:coreProperties>
</file>