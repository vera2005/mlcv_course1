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4"/>
  </p:notesMasterIdLst>
  <p:sldIdLst>
    <p:sldId id="256" r:id="rId2"/>
    <p:sldId id="257" r:id="rId3"/>
    <p:sldId id="258" r:id="rId4"/>
    <p:sldId id="259" r:id="rId5"/>
    <p:sldId id="269" r:id="rId6"/>
    <p:sldId id="273" r:id="rId7"/>
    <p:sldId id="274" r:id="rId8"/>
    <p:sldId id="282" r:id="rId9"/>
    <p:sldId id="275" r:id="rId10"/>
    <p:sldId id="281" r:id="rId11"/>
    <p:sldId id="277" r:id="rId12"/>
    <p:sldId id="278" r:id="rId13"/>
    <p:sldId id="279" r:id="rId14"/>
    <p:sldId id="280" r:id="rId15"/>
    <p:sldId id="276" r:id="rId16"/>
    <p:sldId id="293" r:id="rId17"/>
    <p:sldId id="294" r:id="rId18"/>
    <p:sldId id="295" r:id="rId19"/>
    <p:sldId id="296" r:id="rId20"/>
    <p:sldId id="297" r:id="rId21"/>
    <p:sldId id="299" r:id="rId22"/>
    <p:sldId id="298" r:id="rId23"/>
    <p:sldId id="300" r:id="rId24"/>
    <p:sldId id="301" r:id="rId25"/>
    <p:sldId id="302" r:id="rId26"/>
    <p:sldId id="303" r:id="rId27"/>
    <p:sldId id="261" r:id="rId28"/>
    <p:sldId id="284" r:id="rId29"/>
    <p:sldId id="262" r:id="rId30"/>
    <p:sldId id="304" r:id="rId31"/>
    <p:sldId id="306" r:id="rId32"/>
    <p:sldId id="307" r:id="rId33"/>
    <p:sldId id="308" r:id="rId34"/>
    <p:sldId id="309" r:id="rId35"/>
    <p:sldId id="310" r:id="rId36"/>
    <p:sldId id="311" r:id="rId37"/>
    <p:sldId id="313" r:id="rId38"/>
    <p:sldId id="312" r:id="rId39"/>
    <p:sldId id="317" r:id="rId40"/>
    <p:sldId id="314" r:id="rId41"/>
    <p:sldId id="315" r:id="rId42"/>
    <p:sldId id="318" r:id="rId43"/>
    <p:sldId id="319" r:id="rId44"/>
    <p:sldId id="320" r:id="rId45"/>
    <p:sldId id="321" r:id="rId46"/>
    <p:sldId id="322" r:id="rId47"/>
    <p:sldId id="287" r:id="rId48"/>
    <p:sldId id="290" r:id="rId49"/>
    <p:sldId id="324" r:id="rId50"/>
    <p:sldId id="323" r:id="rId51"/>
    <p:sldId id="325" r:id="rId52"/>
    <p:sldId id="326" r:id="rId53"/>
    <p:sldId id="288" r:id="rId54"/>
    <p:sldId id="328" r:id="rId55"/>
    <p:sldId id="292" r:id="rId56"/>
    <p:sldId id="330" r:id="rId57"/>
    <p:sldId id="331" r:id="rId58"/>
    <p:sldId id="332" r:id="rId59"/>
    <p:sldId id="329" r:id="rId60"/>
    <p:sldId id="333" r:id="rId61"/>
    <p:sldId id="334" r:id="rId62"/>
    <p:sldId id="335" r:id="rId63"/>
    <p:sldId id="286" r:id="rId64"/>
    <p:sldId id="337" r:id="rId65"/>
    <p:sldId id="271" r:id="rId66"/>
    <p:sldId id="338" r:id="rId67"/>
    <p:sldId id="339" r:id="rId68"/>
    <p:sldId id="341" r:id="rId69"/>
    <p:sldId id="340" r:id="rId70"/>
    <p:sldId id="342" r:id="rId71"/>
    <p:sldId id="343" r:id="rId72"/>
    <p:sldId id="285" r:id="rId73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19" autoAdjust="0"/>
    <p:restoredTop sz="61401" autoAdjust="0"/>
  </p:normalViewPr>
  <p:slideViewPr>
    <p:cSldViewPr>
      <p:cViewPr>
        <p:scale>
          <a:sx n="33" d="100"/>
          <a:sy n="33" d="100"/>
        </p:scale>
        <p:origin x="-3756" y="-8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5B534F-630C-4377-BBDB-FD85678AC1B8}" type="datetimeFigureOut">
              <a:rPr lang="ru-RU" smtClean="0"/>
              <a:pPr/>
              <a:t>23.09.2026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7F7C4F-69CD-4118-AF6B-8FD37CB1683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 smtClean="0"/>
              <a:t>ИИ</a:t>
            </a:r>
            <a:r>
              <a:rPr lang="ru-RU" dirty="0" smtClean="0"/>
              <a:t> – это попытка заставить компьютер решать те задачи, которые раньше считались привилегией человека: распознавание речи, образов и т.д.</a:t>
            </a:r>
          </a:p>
          <a:p>
            <a:endParaRPr lang="ru-RU" dirty="0" smtClean="0"/>
          </a:p>
          <a:p>
            <a:r>
              <a:rPr lang="ru-RU" b="1" dirty="0" smtClean="0"/>
              <a:t>МЛ</a:t>
            </a:r>
            <a:r>
              <a:rPr lang="ru-RU" dirty="0" smtClean="0"/>
              <a:t> – один из подходов в ИИ, который характеризуется тем, что мы не придумываем последовательность правил, т.е. не задаём алгоритм явно. Вместо этого мы хотим, чтобы на основе данных компьютер сам нашёл закономерности.</a:t>
            </a:r>
          </a:p>
          <a:p>
            <a:endParaRPr lang="ru-RU" dirty="0" smtClean="0"/>
          </a:p>
          <a:p>
            <a:r>
              <a:rPr lang="ru-RU" dirty="0" smtClean="0"/>
              <a:t>Есть три вида обучения:</a:t>
            </a:r>
          </a:p>
          <a:p>
            <a:r>
              <a:rPr lang="ru-RU" dirty="0" smtClean="0"/>
              <a:t>1) </a:t>
            </a:r>
            <a:r>
              <a:rPr lang="ru-RU" b="1" dirty="0" smtClean="0"/>
              <a:t>С учителем</a:t>
            </a:r>
            <a:r>
              <a:rPr lang="ru-RU" dirty="0" smtClean="0"/>
              <a:t>. Это то, на чём мы остановимся подробнее. Это как обучение по задачнику: есть задачи и есть ответы. На основе этого набора данных (</a:t>
            </a:r>
            <a:r>
              <a:rPr lang="ru-RU" dirty="0" err="1" smtClean="0"/>
              <a:t>датасета</a:t>
            </a:r>
            <a:r>
              <a:rPr lang="ru-RU" dirty="0" smtClean="0"/>
              <a:t>) </a:t>
            </a:r>
            <a:r>
              <a:rPr lang="ru-RU" dirty="0" err="1" smtClean="0"/>
              <a:t>нейросеть</a:t>
            </a:r>
            <a:r>
              <a:rPr lang="ru-RU" dirty="0" smtClean="0"/>
              <a:t> обучается и, используя полученный опыт, будет принимать решения по тем задачам, которые прежде не видела.</a:t>
            </a:r>
          </a:p>
          <a:p>
            <a:r>
              <a:rPr lang="ru-RU" dirty="0" smtClean="0"/>
              <a:t>2)</a:t>
            </a:r>
            <a:r>
              <a:rPr lang="ru-RU" baseline="0" dirty="0" smtClean="0"/>
              <a:t> </a:t>
            </a:r>
            <a:r>
              <a:rPr lang="ru-RU" dirty="0" smtClean="0"/>
              <a:t>Без учителя – когда мы даём данные, но у нас нет ответов. В таком случае наша модель может найти некоторые закономерности и разделить данные на несколько категорий, но что это за категории и по каким признакам она делила, вам не расскажет)</a:t>
            </a:r>
          </a:p>
          <a:p>
            <a:r>
              <a:rPr lang="ru-RU" dirty="0" smtClean="0"/>
              <a:t>3)</a:t>
            </a:r>
            <a:r>
              <a:rPr lang="ru-RU" baseline="0" dirty="0" smtClean="0"/>
              <a:t> </a:t>
            </a:r>
            <a:r>
              <a:rPr lang="ru-RU" dirty="0" smtClean="0"/>
              <a:t>С подкреплением – обучение происходит на основе реакций внешнего мира на действия нашей</a:t>
            </a:r>
            <a:r>
              <a:rPr lang="ru-RU" baseline="0" dirty="0" smtClean="0"/>
              <a:t> модели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r>
              <a:rPr lang="ru-RU" dirty="0" smtClean="0"/>
              <a:t>Обучение с учителем, в свою очередь, делится на две основные задачи:</a:t>
            </a:r>
          </a:p>
          <a:p>
            <a:r>
              <a:rPr lang="ru-RU" dirty="0" smtClean="0"/>
              <a:t>2.1)</a:t>
            </a:r>
            <a:r>
              <a:rPr lang="ru-RU" baseline="0" dirty="0" smtClean="0"/>
              <a:t> </a:t>
            </a:r>
            <a:r>
              <a:rPr lang="ru-RU" b="1" dirty="0" smtClean="0"/>
              <a:t>Регрессия</a:t>
            </a:r>
            <a:r>
              <a:rPr lang="ru-RU" dirty="0" smtClean="0"/>
              <a:t> – предсказание числа из непрерывного диапазона. Например, цена дома или температура.</a:t>
            </a:r>
          </a:p>
          <a:p>
            <a:r>
              <a:rPr lang="ru-RU" dirty="0" smtClean="0"/>
              <a:t>2.2) </a:t>
            </a:r>
            <a:r>
              <a:rPr lang="ru-RU" b="1" dirty="0" smtClean="0"/>
              <a:t>Классификация</a:t>
            </a:r>
            <a:r>
              <a:rPr lang="ru-RU" dirty="0" smtClean="0"/>
              <a:t> – определение принадлежности объекта к той или иной категории:</a:t>
            </a:r>
          </a:p>
          <a:p>
            <a:r>
              <a:rPr lang="ru-RU" dirty="0" smtClean="0"/>
              <a:t>   Бинарная – два класса (кошка/собака на фотографии).</a:t>
            </a:r>
          </a:p>
          <a:p>
            <a:r>
              <a:rPr lang="ru-RU" dirty="0" smtClean="0"/>
              <a:t>   </a:t>
            </a:r>
            <a:r>
              <a:rPr lang="ru-RU" dirty="0" err="1" smtClean="0"/>
              <a:t>Многоклассовая</a:t>
            </a:r>
            <a:r>
              <a:rPr lang="ru-RU" dirty="0" smtClean="0"/>
              <a:t> (какая из цифр от 0 до 9 на фотографии).</a:t>
            </a:r>
          </a:p>
          <a:p>
            <a:r>
              <a:rPr lang="ru-RU" dirty="0" smtClean="0"/>
              <a:t>В примерах классами являются собака, кошка, а также каждая из цифр.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7F7C4F-69CD-4118-AF6B-8FD37CB16838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Вес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число, параметр модели (в данном случае нейрона). Он соответствует значимости признака 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для итогового решения. Это буквально вклад этого признака, его важность. Изменяя значения веса, мы можем, словно вентилем, регулировать значимость вклада, вносимого признаком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Признак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это данные, которые поступают извне. Это число характеризует наш объект, задачу.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Внутри нейрона происходит перемножение: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это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взвешенная сумма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Она поступает на выход нейрона, где её ожидает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функция активации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призванная избавить нас от линейности (дабы далее мы могли строить сложные и страшные нейронные сети, решающие сложные и страшные задачи) и дать более удобно интерпретируемое значение вычисленному в нейроне (это верно для выходных слоёв, но об этом чуть позже).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Также далее мы подробнее рассмотрим несколько наиболее часто применяемых функций активации.</a:t>
            </a:r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7F7C4F-69CD-4118-AF6B-8FD37CB16838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 теперь — на примере. Задача: определить, милое ли животное.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Пусть наше животное характеризуется степенью пушистости. На основе этого мы будем выносить ему приговор. Каждое животное имеет численное значение пушистости — своё значение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Нужно подобрать такое значение параметра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чтобы зверьки с достаточно большим положительным показателем пушистости были милыми, а все прочие — нет.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качестве функции активации применим пороговую: если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*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&gt; 1, то животное милое.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Чтобы правильно решить задачу для котёнка и крокодила, нам подойдёт, например, значение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1.</a:t>
            </a:r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7F7C4F-69CD-4118-AF6B-8FD37CB16838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Но в реальности мы редко принимаем решение на основе</a:t>
            </a:r>
            <a:r>
              <a:rPr lang="ru-RU" baseline="0" dirty="0" smtClean="0"/>
              <a:t> только одного признака.</a:t>
            </a:r>
          </a:p>
          <a:p>
            <a:r>
              <a:rPr lang="ru-RU" baseline="0" dirty="0" smtClean="0"/>
              <a:t>Теперь  рассмотрим нейрон на несколько входов, который учитывает сразу несколько признаков: степень пушистости, а также насколько большие у животного глаза. Теперь каждая живность характеризуется двумя числами. А взвешенная сумма принимает вид: </a:t>
            </a:r>
            <a:r>
              <a:rPr lang="en-US" baseline="0" dirty="0" smtClean="0"/>
              <a:t>w1*x1 + w2*x2 + b</a:t>
            </a:r>
            <a:endParaRPr lang="ru-RU" baseline="0" dirty="0" smtClean="0"/>
          </a:p>
          <a:p>
            <a:r>
              <a:rPr lang="ru-RU" baseline="0" dirty="0" smtClean="0"/>
              <a:t>Где </a:t>
            </a:r>
            <a:r>
              <a:rPr lang="en-US" baseline="0" dirty="0" smtClean="0"/>
              <a:t>b</a:t>
            </a:r>
            <a:r>
              <a:rPr lang="ru-RU" baseline="0" dirty="0" smtClean="0"/>
              <a:t> – </a:t>
            </a:r>
            <a:r>
              <a:rPr lang="ru-RU" b="1" baseline="0" dirty="0" smtClean="0"/>
              <a:t>смещение</a:t>
            </a:r>
            <a:endParaRPr lang="ru-RU" sz="1200" b="1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Это особый параметр, который не зависит от входных данных и помогает регулировать порог срабатывания нейрона. Проще говоря,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определяет, насколько легко нейрон активируется сам по себе: положительное смещение снижает порог, отрицательное — повышает. Без смещения нейрон был бы жёстко привязан к началу координат, а с ним может лучше подстраиваться под данные.</a:t>
            </a:r>
          </a:p>
          <a:p>
            <a:endParaRPr lang="ru-RU" baseline="0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7F7C4F-69CD-4118-AF6B-8FD37CB16838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примере выше мы назначили параметр вручную и приблизительно, что называется, «с потолка». К тому же он был всего один.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реальной нейронной сети таких параметров десятки миллионов — все вручную уж точно не подобрать. Как это происходит на самом деле, рассмотрим на следующем занятии.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 пока условимся, что цель машинного обучения — подобрать веса так, чтобы выдавать наиболее правдоподобные ответы на наши запросы.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Нейронная сеть состоит из слоёв, которые, в свою очередь, состоят из нейронов.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7F7C4F-69CD-4118-AF6B-8FD37CB16838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7F7C4F-69CD-4118-AF6B-8FD37CB16838}" type="slidenum">
              <a:rPr lang="ru-RU" smtClean="0"/>
              <a:pPr/>
              <a:t>16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7F7C4F-69CD-4118-AF6B-8FD37CB16838}" type="slidenum">
              <a:rPr lang="ru-RU" smtClean="0"/>
              <a:pPr/>
              <a:t>21</a:t>
            </a:fld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Чёрно-белое изображение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Для компьютера изображение — это просто матрица чисел.</a:t>
            </a:r>
            <a:b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чёрно-белом (точнее, в градациях серого) изображении каждый пиксель — это одно число от 0 до 255, обозначающее интенсивность: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 — чёрный,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255 — белый,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всё между ними — оттенки серого.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Цветное изображение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цветном изображении одна матрица превращается в несколько — по одной на каждый цветовой канал.</a:t>
            </a:r>
            <a:b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Число матриц равно числу каналов в выбранном цветовом пространстве.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Например, в пространстве RGB Еще 1  изображение — это три матрицы: интенсивности красного, зелёного и синего. Их комбинация и даёт нам полный цвет каждого пикселя.</a:t>
            </a:r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7F7C4F-69CD-4118-AF6B-8FD37CB16838}" type="slidenum">
              <a:rPr lang="ru-RU" smtClean="0"/>
              <a:pPr/>
              <a:t>28</a:t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Важно: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OpenCV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использует порядок BGR, а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skimage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— RGB,</a:t>
            </a:r>
            <a:r>
              <a:rPr lang="ru-RU" baseline="0" dirty="0" smtClean="0">
                <a:latin typeface="Cascadia Code SemiLight" pitchFamily="49" charset="0"/>
                <a:cs typeface="Cascadia Code SemiLight" pitchFamily="49" charset="0"/>
              </a:rPr>
              <a:t> т.е. разные цветовые пространства</a:t>
            </a:r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Внутри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OpenCV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— BGR.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Внутри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matplotlib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/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skimage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— RGB.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Переходите из одной в другую — конвертируйте</a:t>
            </a:r>
            <a:r>
              <a:rPr lang="ru-RU" baseline="0" dirty="0" smtClean="0">
                <a:latin typeface="Cascadia Code SemiLight" pitchFamily="49" charset="0"/>
                <a:cs typeface="Cascadia Code SemiLight" pitchFamily="49" charset="0"/>
              </a:rPr>
              <a:t> (как – рассмотрим подробнее на следующих слайдах)</a:t>
            </a:r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7F7C4F-69CD-4118-AF6B-8FD37CB16838}" type="slidenum">
              <a:rPr lang="ru-RU" smtClean="0"/>
              <a:pPr/>
              <a:t>29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7F7C4F-69CD-4118-AF6B-8FD37CB16838}" type="slidenum">
              <a:rPr lang="ru-RU" smtClean="0"/>
              <a:pPr/>
              <a:t>42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7F7C4F-69CD-4118-AF6B-8FD37CB16838}" type="slidenum">
              <a:rPr lang="ru-RU" smtClean="0"/>
              <a:pPr/>
              <a:t>69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add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F463A-BC7C-46EE-9F1E-7F377CCA4891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latinLnBrk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latinLnBrk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latinLnBrk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latinLnBrk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latinLnBrk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latinLnBrk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105400" y="1981200"/>
            <a:ext cx="3581400" cy="2057399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Занятие 1.</a:t>
            </a:r>
            <a:br>
              <a:rPr lang="ru-RU" dirty="0" smtClean="0">
                <a:latin typeface="Cascadia Code SemiLight" pitchFamily="49" charset="0"/>
                <a:cs typeface="Cascadia Code SemiLight" pitchFamily="49" charset="0"/>
              </a:rPr>
            </a:br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Пиксель → цвет → нейрон</a:t>
            </a:r>
            <a:b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</a:br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Как машина учится видеть</a:t>
            </a:r>
            <a:b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</a:b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181600" y="5334000"/>
            <a:ext cx="3962400" cy="1524000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Мастерские МИЦ. 10 сезон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Основы машинного обучения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Занятие 1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Пономаренко Вера</a:t>
            </a:r>
          </a:p>
          <a:p>
            <a:endParaRPr lang="ru-RU" dirty="0" smtClean="0"/>
          </a:p>
        </p:txBody>
      </p:sp>
      <p:pic>
        <p:nvPicPr>
          <p:cNvPr id="18434" name="Picture 2" descr="https://sun9-6.vkuserphoto.ru/s/v1/ig2/7rNUT8SjcrqYRzXxolL6AFksiyd8dUiR5-ox5YeikqjzKdu6Yf56PBLQfmmRR5Zj2UM9VaGvOhqEaHATG3lBLRPq.jpg?quality=95&amp;as=32x39,48x58,72x88,108x132,160x195,240x292,360x439,480x585,540x658,640x780,720x877,736x897&amp;from=bu&amp;cs=736x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990600"/>
            <a:ext cx="4626708" cy="5638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Орг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моменты</a:t>
            </a:r>
            <a:br>
              <a:rPr lang="ru-RU" dirty="0" smtClean="0">
                <a:latin typeface="Cascadia Code SemiLight" pitchFamily="49" charset="0"/>
                <a:cs typeface="Cascadia Code SemiLight" pitchFamily="49" charset="0"/>
              </a:rPr>
            </a:b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3400" y="1066801"/>
            <a:ext cx="4800600" cy="1066800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Группа в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тг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:</a:t>
            </a:r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4" name="Picture 2" descr="https://sun9-15.vkuserphoto.ru/s/v1/ig2/ehzmgbAZGEsfcsP57Q4LXVnaXsxNyXJCv9C1xpivxmeyNdfhpyuyWdENVOwqkx99uLQaK7bqG-pV_YD7HotXjWdy.jpg?quality=95&amp;as=32x32,48x48,72x72,108x108,160x160,240x240,360x360,480x480,540x540,640x640,720x720,786x786&amp;from=bu&amp;u=1hbTleU5KOlzCf3XrHfXg5gcfbB1dCZ1svJ_cuyLWbA&amp;cs=786x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905000"/>
            <a:ext cx="4038600" cy="4038600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4800600" y="1600201"/>
            <a:ext cx="4343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latin typeface="Cascadia Code SemiLight" pitchFamily="49" charset="0"/>
                <a:cs typeface="Cascadia Code SemiLight" pitchFamily="49" charset="0"/>
              </a:rPr>
              <a:t>Структура курса: </a:t>
            </a:r>
          </a:p>
          <a:p>
            <a:r>
              <a:rPr lang="ru-RU" sz="2400" dirty="0" smtClean="0">
                <a:latin typeface="Cascadia Code SemiLight" pitchFamily="49" charset="0"/>
                <a:cs typeface="Cascadia Code SemiLight" pitchFamily="49" charset="0"/>
              </a:rPr>
              <a:t>8 занятий +</a:t>
            </a:r>
          </a:p>
          <a:p>
            <a:r>
              <a:rPr lang="ru-RU" sz="2400" dirty="0" smtClean="0">
                <a:latin typeface="Cascadia Code SemiLight" pitchFamily="49" charset="0"/>
                <a:cs typeface="Cascadia Code SemiLight" pitchFamily="49" charset="0"/>
              </a:rPr>
              <a:t>8 </a:t>
            </a:r>
            <a:r>
              <a:rPr lang="ru-RU" sz="2400" dirty="0" err="1" smtClean="0">
                <a:latin typeface="Cascadia Code SemiLight" pitchFamily="49" charset="0"/>
                <a:cs typeface="Cascadia Code SemiLight" pitchFamily="49" charset="0"/>
              </a:rPr>
              <a:t>дз</a:t>
            </a:r>
            <a:r>
              <a:rPr lang="ru-RU" sz="2400" dirty="0" smtClean="0">
                <a:latin typeface="Cascadia Code SemiLight" pitchFamily="49" charset="0"/>
                <a:cs typeface="Cascadia Code SemiLight" pitchFamily="49" charset="0"/>
              </a:rPr>
              <a:t> </a:t>
            </a:r>
          </a:p>
          <a:p>
            <a:r>
              <a:rPr lang="ru-RU" sz="2400" dirty="0" smtClean="0">
                <a:latin typeface="Cascadia Code SemiLight" pitchFamily="49" charset="0"/>
                <a:cs typeface="Cascadia Code SemiLight" pitchFamily="49" charset="0"/>
              </a:rPr>
              <a:t>проект + защита</a:t>
            </a:r>
          </a:p>
        </p:txBody>
      </p:sp>
      <p:pic>
        <p:nvPicPr>
          <p:cNvPr id="17410" name="Picture 2" descr="https://sun9-28.vkuserphoto.ru/s/v1/ig2/MSW-vl4QfYH2nzQ_h_UpgsIpf4N60SajxR6NwjuZOtcBEQQ6zQMkoNDvOlHyajg_0D4xeF4HyiI21S8TeHIUe8CW.jpg?quality=95&amp;as=32x33,48x50,72x75,108x112,160x166,240x249,360x374,480x498,540x561,552x573&amp;from=bu&amp;u=atRv-BW6J7MRROzmO3OnaYWJPujGJ7ALQ05vsojl5Xk&amp;cs=552x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3276600"/>
            <a:ext cx="3104518" cy="32226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План занятия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4572000" cy="4571999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Основные понятия </a:t>
            </a:r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ML</a:t>
            </a:r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Нейрон: веса, смещение, функция активации. </a:t>
            </a:r>
            <a:endParaRPr lang="en-US" dirty="0" smtClean="0">
              <a:latin typeface="Cascadia Code SemiLight" pitchFamily="49" charset="0"/>
              <a:cs typeface="Cascadia Code SemiLight" pitchFamily="49" charset="0"/>
            </a:endParaRP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Изображение как данные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Цветовые пространства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Базовые инструменты </a:t>
            </a:r>
            <a:r>
              <a:rPr lang="en-US" dirty="0" err="1" smtClean="0">
                <a:latin typeface="Cascadia Code SemiLight" pitchFamily="49" charset="0"/>
                <a:cs typeface="Cascadia Code SemiLight" pitchFamily="49" charset="0"/>
              </a:rPr>
              <a:t>OpenCV</a:t>
            </a:r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Поиск объекта по цвету</a:t>
            </a:r>
            <a:endParaRPr lang="en-US" dirty="0" smtClean="0">
              <a:latin typeface="Cascadia Code SemiLight" pitchFamily="49" charset="0"/>
              <a:cs typeface="Cascadia Code SemiLight" pitchFamily="49" charset="0"/>
            </a:endParaRPr>
          </a:p>
        </p:txBody>
      </p:sp>
      <p:pic>
        <p:nvPicPr>
          <p:cNvPr id="16388" name="Picture 4" descr="https://sun9-50.vkuserphoto.ru/s/v1/ig2/zrHLEO2JA1gmfzWktkboHADCTxl8wUcqlz-kVWua1ckSiFZeZsFau65fxCDCSrQzNk0-zPPYuIBWb6hRsYEAb9WM.jpg?quality=95&amp;as=32x35,48x52,72x78,108x117,160x174,240x261,360x391,479x520&amp;from=bu&amp;cs=479x0"/>
          <p:cNvPicPr>
            <a:picLocks noChangeAspect="1" noChangeArrowheads="1"/>
          </p:cNvPicPr>
          <p:nvPr/>
        </p:nvPicPr>
        <p:blipFill>
          <a:blip r:embed="rId2" cstate="print"/>
          <a:srcRect l="1461" b="12308"/>
          <a:stretch>
            <a:fillRect/>
          </a:stretch>
        </p:blipFill>
        <p:spPr bwMode="auto">
          <a:xfrm>
            <a:off x="4953000" y="1676400"/>
            <a:ext cx="3943684" cy="381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6200000">
            <a:off x="1601542" y="-382342"/>
            <a:ext cx="5788517" cy="8381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Что такое этот ваш МЛ?..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pic>
        <p:nvPicPr>
          <p:cNvPr id="14338" name="Picture 2" descr="https://sun9-58.vkuserphoto.ru/s/v1/ig2/F7HLBgZFEO8ddfHNo0aMD5DyHxpJhFOotH4eXod2PsDEqS0QDAekjaqgeRaUiveY9txUtliapuleoCulm4SKW4TE.jpg?quality=95&amp;as=32x31,48x47,72x71,108x106,160x157,240x235,360x353,480x471,540x530,640x628,720x706,735x721&amp;from=bu&amp;cs=735x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29400" y="2971800"/>
            <a:ext cx="2068496" cy="202909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Искусственный нейрон</a:t>
            </a:r>
            <a:br>
              <a:rPr lang="ru-RU" dirty="0" smtClean="0">
                <a:latin typeface="Cascadia Code SemiLight" pitchFamily="49" charset="0"/>
                <a:cs typeface="Cascadia Code SemiLight" pitchFamily="49" charset="0"/>
              </a:rPr>
            </a:b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Что же учится в машине?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85800" y="5380037"/>
            <a:ext cx="7924800" cy="1477963"/>
          </a:xfrm>
        </p:spPr>
        <p:txBody>
          <a:bodyPr/>
          <a:lstStyle/>
          <a:p>
            <a:endParaRPr lang="ru-RU" dirty="0" smtClean="0"/>
          </a:p>
        </p:txBody>
      </p:sp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447800"/>
            <a:ext cx="8458200" cy="5171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0"/>
            <a:ext cx="7056582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0"/>
            <a:ext cx="7286420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43200" y="5181600"/>
            <a:ext cx="3484914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Нейронная сеть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2" descr="https://sun9-14.userapi.com/s/v1/ig2/tVHu_ddbW-sfGbCa0SAr8-pdNeRI8a5ehmypVxRFq0GPWU879PX3vy24FywLgrLYz6OFuh9mUS1C7pfTWnh0awAk.jpg?quality=95&amp;as=32x22,48x32,72x49,108x73,160x108,240x162,360x244,480x325,540x365,640x433,720x487,1080x731,1280x866,1440x974,1933x1308&amp;from=bu&amp;u=Qib1uoRtiy12xjpY_n6F2dXJSF_zcQOFugKzu1HudhU&amp;cs=1933x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1295400"/>
            <a:ext cx="7772400" cy="52593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Функции активации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24400" y="1295400"/>
            <a:ext cx="3962400" cy="4830763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Без функции активации нейрон — это просто линейная функция: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output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=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w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·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x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+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b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.</a:t>
            </a:r>
            <a:br>
              <a:rPr lang="ru-RU" dirty="0" smtClean="0">
                <a:latin typeface="Cascadia Code SemiLight" pitchFamily="49" charset="0"/>
                <a:cs typeface="Cascadia Code SemiLight" pitchFamily="49" charset="0"/>
              </a:rPr>
            </a:b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А </a:t>
            </a:r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композиция линейных функций — тоже линейная функция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. Это значит, что сколько бы нейронов мы ни соединяли в сеть, она всё равно останется линейной моделью и не сможет решать сложные задачи</a:t>
            </a:r>
          </a:p>
          <a:p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Функция активации вносит нелинейность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.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pic>
        <p:nvPicPr>
          <p:cNvPr id="35842" name="Picture 2" descr="https://sun9-11.vkuserphoto.ru/s/v1/ig2/CDyaBIGPsY_45GZrLBlePibT3gwDlvNj3P_I55ihKVday3bQrOqrPmm7kKDY0ZEPlOJMM0lTY2uPcUMOIPtrhgWw.jpg?quality=95&amp;as=32x32,48x47,72x71,108x106,160x158,240x236,360x355,480x473,540x532,640x630,720x709,735x724&amp;from=bu&amp;cs=735x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600200"/>
            <a:ext cx="4038600" cy="397815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Ступенчатая функция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34000" y="1600200"/>
            <a:ext cx="3352800" cy="45259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2000" dirty="0" smtClean="0">
                <a:latin typeface="Cascadia Code SemiLight" pitchFamily="49" charset="0"/>
                <a:cs typeface="Cascadia Code SemiLight" pitchFamily="49" charset="0"/>
              </a:rPr>
              <a:t>1) Функция А  активирована, если Y &gt; граница, иначе нет.</a:t>
            </a:r>
          </a:p>
          <a:p>
            <a:pPr>
              <a:buNone/>
            </a:pPr>
            <a:r>
              <a:rPr lang="ru-RU" sz="2000" dirty="0" smtClean="0">
                <a:latin typeface="Cascadia Code SemiLight" pitchFamily="49" charset="0"/>
                <a:cs typeface="Cascadia Code SemiLight" pitchFamily="49" charset="0"/>
              </a:rPr>
              <a:t>2) Не подходит для классификации многих классов</a:t>
            </a:r>
            <a:endParaRPr lang="ru-RU" sz="2000" dirty="0">
              <a:latin typeface="Cascadia Code SemiLight" pitchFamily="49" charset="0"/>
              <a:cs typeface="Cascadia Code SemiLight" pitchFamily="49" charset="0"/>
            </a:endParaRPr>
          </a:p>
        </p:txBody>
      </p:sp>
      <p:pic>
        <p:nvPicPr>
          <p:cNvPr id="39938" name="Picture 2" descr="ступенчатая функция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676400"/>
            <a:ext cx="4800600" cy="36041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Sigmoid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Сигмоида</a:t>
            </a:r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  <a:p>
            <a:endParaRPr lang="ru-RU" dirty="0"/>
          </a:p>
        </p:txBody>
      </p:sp>
      <p:pic>
        <p:nvPicPr>
          <p:cNvPr id="4403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1371600"/>
            <a:ext cx="3810000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2590800"/>
            <a:ext cx="4648200" cy="299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4724401" y="2895600"/>
            <a:ext cx="4191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>
                <a:latin typeface="Cascadia Code SemiLight" pitchFamily="49" charset="0"/>
                <a:cs typeface="Cascadia Code SemiLight" pitchFamily="49" charset="0"/>
              </a:rPr>
              <a:t>1) Диапазон (0,1)</a:t>
            </a:r>
          </a:p>
          <a:p>
            <a:r>
              <a:rPr lang="ru-RU" sz="2000" dirty="0" smtClean="0">
                <a:latin typeface="Cascadia Code SemiLight" pitchFamily="49" charset="0"/>
                <a:cs typeface="Cascadia Code SemiLight" pitchFamily="49" charset="0"/>
              </a:rPr>
              <a:t>2) Используется для выходного слоя бинарной классификации. </a:t>
            </a:r>
          </a:p>
          <a:p>
            <a:r>
              <a:rPr lang="ru-RU" sz="2000" dirty="0" smtClean="0">
                <a:latin typeface="Cascadia Code SemiLight" pitchFamily="49" charset="0"/>
                <a:cs typeface="Cascadia Code SemiLight" pitchFamily="49" charset="0"/>
              </a:rPr>
              <a:t>3) Интерпретируется как вероятность</a:t>
            </a:r>
          </a:p>
          <a:p>
            <a:r>
              <a:rPr lang="ru-RU" sz="2000" dirty="0" smtClean="0">
                <a:latin typeface="Cascadia Code SemiLight" pitchFamily="49" charset="0"/>
                <a:cs typeface="Cascadia Code SemiLight" pitchFamily="49" charset="0"/>
              </a:rPr>
              <a:t>4)Плавная и дифференцируемая</a:t>
            </a:r>
          </a:p>
          <a:p>
            <a:r>
              <a:rPr lang="ru-RU" sz="2000" dirty="0" smtClean="0">
                <a:latin typeface="Cascadia Code SemiLight" pitchFamily="49" charset="0"/>
                <a:cs typeface="Cascadia Code SemiLight" pitchFamily="49" charset="0"/>
              </a:rPr>
              <a:t>5) Минус: затухание градиента – при больших </a:t>
            </a:r>
            <a:r>
              <a:rPr lang="ru-RU" sz="2000" dirty="0" err="1" smtClean="0">
                <a:latin typeface="Cascadia Code SemiLight" pitchFamily="49" charset="0"/>
                <a:cs typeface="Cascadia Code SemiLight" pitchFamily="49" charset="0"/>
              </a:rPr>
              <a:t>х</a:t>
            </a:r>
            <a:r>
              <a:rPr lang="ru-RU" sz="2000" dirty="0" smtClean="0">
                <a:latin typeface="Cascadia Code SemiLight" pitchFamily="49" charset="0"/>
                <a:cs typeface="Cascadia Code SemiLight" pitchFamily="49" charset="0"/>
              </a:rPr>
              <a:t> производная близка к 0, сеть будет плохо обучаться</a:t>
            </a:r>
            <a:endParaRPr lang="ru-RU" sz="2000" dirty="0">
              <a:latin typeface="Cascadia Code SemiLight" pitchFamily="49" charset="0"/>
              <a:cs typeface="Cascadia Code SemiLight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ascadia Code SemiLight" pitchFamily="49" charset="0"/>
                <a:cs typeface="Cascadia Code SemiLight" pitchFamily="49" charset="0"/>
              </a:rPr>
              <a:t>Tanh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Гиперболический тангенс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pic>
        <p:nvPicPr>
          <p:cNvPr id="4300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286000"/>
            <a:ext cx="5076825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3" cstate="print"/>
          <a:srcRect l="1449" t="11308"/>
          <a:stretch>
            <a:fillRect/>
          </a:stretch>
        </p:blipFill>
        <p:spPr bwMode="auto">
          <a:xfrm>
            <a:off x="947928" y="2971800"/>
            <a:ext cx="4767072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5410200" y="3276600"/>
            <a:ext cx="3581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Диапазон (-1, 1)</a:t>
            </a:r>
          </a:p>
          <a:p>
            <a:pPr marL="342900" indent="-342900">
              <a:buAutoNum type="arabicParenR"/>
            </a:pP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Используется, когда нужен центрированный выход</a:t>
            </a:r>
          </a:p>
          <a:p>
            <a:pPr marL="342900" indent="-342900">
              <a:buAutoNum type="arabicParenR"/>
            </a:pP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Градиенты сильнее, чем у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сигмоиды</a:t>
            </a:r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  <a:p>
            <a:pPr marL="342900" indent="-342900">
              <a:buAutoNum type="arabicParenR"/>
            </a:pP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Но все еще страдаем от затухания градиента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ascadia Code SemiLight" pitchFamily="49" charset="0"/>
                <a:cs typeface="Cascadia Code SemiLight" pitchFamily="49" charset="0"/>
              </a:rPr>
              <a:t>ReLu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A(x) = max(0,x)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pic>
        <p:nvPicPr>
          <p:cNvPr id="4198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399" y="2438400"/>
            <a:ext cx="5148212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5410200" y="2286000"/>
            <a:ext cx="3429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1) Диапазон </a:t>
            </a:r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[0, </a:t>
            </a:r>
            <a:r>
              <a:rPr lang="en-US" dirty="0" err="1" smtClean="0">
                <a:latin typeface="Cascadia Code SemiLight" pitchFamily="49" charset="0"/>
                <a:cs typeface="Cascadia Code SemiLight" pitchFamily="49" charset="0"/>
              </a:rPr>
              <a:t>inf</a:t>
            </a:r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)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2) Используется в скрытых слоях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3) УРА! НЕТ затухания градиента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4) Быстрое вычисление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5) Минус: мертвые нейроны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ascadia Code SemiLight" pitchFamily="49" charset="0"/>
                <a:cs typeface="Cascadia Code SemiLight" pitchFamily="49" charset="0"/>
              </a:rPr>
              <a:t>Softmax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85800" y="4267200"/>
            <a:ext cx="8001000" cy="1858963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1) </a:t>
            </a:r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Диапазон: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(0, 1), сумма всех выходов = 1.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2) Используется в выходном слое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многоклассовой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классификации (выдает вероятности для каждого класса)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3) Удобно интерпретировать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4) Минус: используется только для выходного слоя</a:t>
            </a:r>
          </a:p>
          <a:p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pic>
        <p:nvPicPr>
          <p:cNvPr id="4096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371600"/>
            <a:ext cx="6586089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22" name="Picture 6" descr="https://sun9-74.vkuserphoto.ru/s/v1/ig2/nRdHdWxJd5tLelQP5eE1_-HjBSeGPKS2fyz7fQ3yAZOQoN1-UGl0N-mmV84gsMauacvuf1TI5MoEGyJfUo99QiW_.jpg?quality=95&amp;as=32x34,48x51,72x77,108x115,160x171,240x256,360x384,480x512,536x572&amp;from=bu&amp;cs=536x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685800"/>
            <a:ext cx="5005221" cy="5341393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67200" y="914400"/>
            <a:ext cx="5105400" cy="137160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КОДИМ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!</a:t>
            </a:r>
            <a:br>
              <a:rPr lang="ru-RU" dirty="0" smtClean="0">
                <a:latin typeface="Cascadia Code SemiLight" pitchFamily="49" charset="0"/>
                <a:cs typeface="Cascadia Code SemiLight" pitchFamily="49" charset="0"/>
              </a:rPr>
            </a:b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ru-RU" dirty="0"/>
          </a:p>
        </p:txBody>
      </p:sp>
      <p:pic>
        <p:nvPicPr>
          <p:cNvPr id="34820" name="Picture 4" descr="https://sun9-9.vkuserphoto.ru/s/v1/ig2/Z_tbBpNhARs_UPWwsh1uLeDEaJp8mtQyXrl3UkychOrUSgNqlFT_7cmYC9nvBB8N0EdIvS1a26rrgZ5Xc96ppHkN.jpg?quality=95&amp;as=32x32,48x48,72x72,108x108,160x160,240x240,360x360,480x480,540x540,640x640,701x701&amp;from=bu&amp;cs=701x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2743200"/>
            <a:ext cx="3733800" cy="3733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Разбор кода в </a:t>
            </a:r>
            <a:r>
              <a:rPr lang="en-US" dirty="0" smtClean="0">
                <a:latin typeface="Cascadia Mono SemiLight" pitchFamily="49" charset="0"/>
                <a:cs typeface="Cascadia Mono SemiLight" pitchFamily="49" charset="0"/>
              </a:rPr>
              <a:t>Google </a:t>
            </a:r>
            <a:r>
              <a:rPr lang="en-US" dirty="0" err="1" smtClean="0">
                <a:latin typeface="Cascadia Mono SemiLight" pitchFamily="49" charset="0"/>
                <a:cs typeface="Cascadia Mono SemiLight" pitchFamily="49" charset="0"/>
              </a:rPr>
              <a:t>Collab</a:t>
            </a:r>
            <a:endParaRPr lang="ru-RU" dirty="0">
              <a:latin typeface="Cascadia Mono SemiLight" pitchFamily="49" charset="0"/>
              <a:cs typeface="Cascadia Mono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 smtClean="0">
                <a:latin typeface="Cascadia Mono SemiLight" pitchFamily="49" charset="0"/>
                <a:cs typeface="Cascadia Mono SemiLight" pitchFamily="49" charset="0"/>
              </a:rPr>
              <a:t>Кусок кода в рамочке принято называть ячейкой. Во время работы нужно запускать все ячейки последовательно. Они независимы, но в нашем курсе почти все в рамках одного блока опираются на предыдущие</a:t>
            </a:r>
          </a:p>
          <a:p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2743200"/>
            <a:ext cx="6983413" cy="249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304800" y="5181600"/>
            <a:ext cx="8610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Мы будем писать не весь код, а только значимые его части. Работу по визуализации и отображению ( и прочую грязную работу мы оставим в стороне)</a:t>
            </a:r>
          </a:p>
          <a:p>
            <a:endParaRPr lang="ru-RU" dirty="0" smtClean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563562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БЛОК 1. Нейрон</a:t>
            </a:r>
            <a:endParaRPr lang="ru-RU" dirty="0">
              <a:latin typeface="Cascadia Mono SemiLight" pitchFamily="49" charset="0"/>
              <a:cs typeface="Cascadia Mono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3400" y="990600"/>
            <a:ext cx="4114800" cy="4572000"/>
          </a:xfrm>
        </p:spPr>
        <p:txBody>
          <a:bodyPr>
            <a:noAutofit/>
          </a:bodyPr>
          <a:lstStyle/>
          <a:p>
            <a:r>
              <a:rPr lang="ru-RU" sz="1100" dirty="0" smtClean="0">
                <a:latin typeface="Cascadia Mono SemiLight" pitchFamily="49" charset="0"/>
                <a:cs typeface="Cascadia Mono SemiLight" pitchFamily="49" charset="0"/>
              </a:rPr>
              <a:t>Ячейка 1.</a:t>
            </a:r>
          </a:p>
          <a:p>
            <a:endParaRPr lang="ru-RU" sz="1100" dirty="0" smtClean="0">
              <a:latin typeface="Cascadia Mono SemiLight" pitchFamily="49" charset="0"/>
              <a:cs typeface="Cascadia Mono SemiLight" pitchFamily="49" charset="0"/>
            </a:endParaRPr>
          </a:p>
          <a:p>
            <a:r>
              <a:rPr lang="ru-RU" sz="1100" dirty="0" err="1" smtClean="0">
                <a:latin typeface="Cascadia Mono SemiLight" pitchFamily="49" charset="0"/>
                <a:cs typeface="Cascadia Mono SemiLight" pitchFamily="49" charset="0"/>
              </a:rPr>
              <a:t>NumPy</a:t>
            </a:r>
            <a:r>
              <a:rPr lang="ru-RU" sz="1100" dirty="0" smtClean="0">
                <a:latin typeface="Cascadia Mono SemiLight" pitchFamily="49" charset="0"/>
                <a:cs typeface="Cascadia Mono SemiLight" pitchFamily="49" charset="0"/>
              </a:rPr>
              <a:t> — одна из основных библиотек </a:t>
            </a:r>
            <a:r>
              <a:rPr lang="ru-RU" sz="1100" dirty="0" err="1" smtClean="0">
                <a:latin typeface="Cascadia Mono SemiLight" pitchFamily="49" charset="0"/>
                <a:cs typeface="Cascadia Mono SemiLight" pitchFamily="49" charset="0"/>
              </a:rPr>
              <a:t>Python</a:t>
            </a:r>
            <a:r>
              <a:rPr lang="ru-RU" sz="1100" dirty="0" smtClean="0">
                <a:latin typeface="Cascadia Mono SemiLight" pitchFamily="49" charset="0"/>
                <a:cs typeface="Cascadia Mono SemiLight" pitchFamily="49" charset="0"/>
              </a:rPr>
              <a:t> для вычислений и работы с массивами и матрицами. Мы импортируем её, чтобы использовать в коде. </a:t>
            </a:r>
            <a:r>
              <a:rPr lang="ru-RU" sz="1100" dirty="0" err="1" smtClean="0">
                <a:latin typeface="Cascadia Mono SemiLight" pitchFamily="49" charset="0"/>
                <a:cs typeface="Cascadia Mono SemiLight" pitchFamily="49" charset="0"/>
              </a:rPr>
              <a:t>np</a:t>
            </a:r>
            <a:r>
              <a:rPr lang="ru-RU" sz="1100" dirty="0" smtClean="0">
                <a:latin typeface="Cascadia Mono SemiLight" pitchFamily="49" charset="0"/>
                <a:cs typeface="Cascadia Mono SemiLight" pitchFamily="49" charset="0"/>
              </a:rPr>
              <a:t> — это псевдоним (сокращённое имя), по которому мы будем к ней обращаться.</a:t>
            </a:r>
          </a:p>
          <a:p>
            <a:endParaRPr lang="ru-RU" sz="1100" dirty="0" smtClean="0">
              <a:latin typeface="Cascadia Mono SemiLight" pitchFamily="49" charset="0"/>
              <a:cs typeface="Cascadia Mono SemiLight" pitchFamily="49" charset="0"/>
            </a:endParaRPr>
          </a:p>
          <a:p>
            <a:r>
              <a:rPr lang="ru-RU" sz="1100" dirty="0" err="1" smtClean="0">
                <a:latin typeface="Cascadia Mono SemiLight" pitchFamily="49" charset="0"/>
                <a:cs typeface="Cascadia Mono SemiLight" pitchFamily="49" charset="0"/>
              </a:rPr>
              <a:t>matplotlib.pyplot</a:t>
            </a:r>
            <a:r>
              <a:rPr lang="ru-RU" sz="1100" dirty="0" smtClean="0">
                <a:latin typeface="Cascadia Mono SemiLight" pitchFamily="49" charset="0"/>
                <a:cs typeface="Cascadia Mono SemiLight" pitchFamily="49" charset="0"/>
              </a:rPr>
              <a:t> — библиотека для построения графиков. Мы подключаем её под псевдонимом </a:t>
            </a:r>
            <a:r>
              <a:rPr lang="ru-RU" sz="1100" dirty="0" err="1" smtClean="0">
                <a:latin typeface="Cascadia Mono SemiLight" pitchFamily="49" charset="0"/>
                <a:cs typeface="Cascadia Mono SemiLight" pitchFamily="49" charset="0"/>
              </a:rPr>
              <a:t>plt</a:t>
            </a:r>
            <a:r>
              <a:rPr lang="ru-RU" sz="1100" dirty="0" smtClean="0">
                <a:latin typeface="Cascadia Mono SemiLight" pitchFamily="49" charset="0"/>
                <a:cs typeface="Cascadia Mono SemiLight" pitchFamily="49" charset="0"/>
              </a:rPr>
              <a:t>, чтобы потом вызывать нужные функции через короткое имя.</a:t>
            </a:r>
          </a:p>
          <a:p>
            <a:endParaRPr lang="ru-RU" sz="1100" dirty="0" smtClean="0">
              <a:latin typeface="Cascadia Mono SemiLight" pitchFamily="49" charset="0"/>
              <a:cs typeface="Cascadia Mono SemiLight" pitchFamily="49" charset="0"/>
            </a:endParaRPr>
          </a:p>
          <a:p>
            <a:r>
              <a:rPr lang="ru-RU" sz="1100" dirty="0" err="1" smtClean="0">
                <a:latin typeface="Cascadia Mono SemiLight" pitchFamily="49" charset="0"/>
                <a:cs typeface="Cascadia Mono SemiLight" pitchFamily="49" charset="0"/>
              </a:rPr>
              <a:t>def</a:t>
            </a:r>
            <a:r>
              <a:rPr lang="ru-RU" sz="1100" dirty="0" smtClean="0">
                <a:latin typeface="Cascadia Mono SemiLight" pitchFamily="49" charset="0"/>
                <a:cs typeface="Cascadia Mono SemiLight" pitchFamily="49" charset="0"/>
              </a:rPr>
              <a:t> — ключевое слово для определения функции. После него указывается имя функции (например, </a:t>
            </a:r>
            <a:r>
              <a:rPr lang="ru-RU" sz="1100" dirty="0" err="1" smtClean="0">
                <a:latin typeface="Cascadia Mono SemiLight" pitchFamily="49" charset="0"/>
                <a:cs typeface="Cascadia Mono SemiLight" pitchFamily="49" charset="0"/>
              </a:rPr>
              <a:t>sigmoid</a:t>
            </a:r>
            <a:r>
              <a:rPr lang="ru-RU" sz="1100" dirty="0" smtClean="0">
                <a:latin typeface="Cascadia Mono SemiLight" pitchFamily="49" charset="0"/>
                <a:cs typeface="Cascadia Mono SemiLight" pitchFamily="49" charset="0"/>
              </a:rPr>
              <a:t>), затем в скобках — принимаемые параметры, после чего ставится двоеточие.</a:t>
            </a:r>
          </a:p>
          <a:p>
            <a:endParaRPr lang="ru-RU" sz="1100" dirty="0" smtClean="0">
              <a:latin typeface="Cascadia Mono SemiLight" pitchFamily="49" charset="0"/>
              <a:cs typeface="Cascadia Mono SemiLight" pitchFamily="49" charset="0"/>
            </a:endParaRPr>
          </a:p>
          <a:p>
            <a:r>
              <a:rPr lang="ru-RU" sz="1100" dirty="0" smtClean="0">
                <a:latin typeface="Cascadia Mono SemiLight" pitchFamily="49" charset="0"/>
                <a:cs typeface="Cascadia Mono SemiLight" pitchFamily="49" charset="0"/>
              </a:rPr>
              <a:t>Тело функции — то есть действия, которые выполняются при её вызове, — пишется с отступом в 4 пробела. В </a:t>
            </a:r>
            <a:r>
              <a:rPr lang="ru-RU" sz="1100" dirty="0" err="1" smtClean="0">
                <a:latin typeface="Cascadia Mono SemiLight" pitchFamily="49" charset="0"/>
                <a:cs typeface="Cascadia Mono SemiLight" pitchFamily="49" charset="0"/>
              </a:rPr>
              <a:t>Colab</a:t>
            </a:r>
            <a:r>
              <a:rPr lang="ru-RU" sz="1100" dirty="0" smtClean="0">
                <a:latin typeface="Cascadia Mono SemiLight" pitchFamily="49" charset="0"/>
                <a:cs typeface="Cascadia Mono SemiLight" pitchFamily="49" charset="0"/>
              </a:rPr>
              <a:t> отступы обычно ставятся автоматически.</a:t>
            </a:r>
          </a:p>
          <a:p>
            <a:endParaRPr lang="ru-RU" sz="1100" dirty="0" smtClean="0">
              <a:latin typeface="Cascadia Mono SemiLight" pitchFamily="49" charset="0"/>
              <a:cs typeface="Cascadia Mono SemiLight" pitchFamily="49" charset="0"/>
            </a:endParaRPr>
          </a:p>
          <a:p>
            <a:r>
              <a:rPr lang="ru-RU" sz="1100" dirty="0" smtClean="0">
                <a:latin typeface="Cascadia Mono SemiLight" pitchFamily="49" charset="0"/>
                <a:cs typeface="Cascadia Mono SemiLight" pitchFamily="49" charset="0"/>
              </a:rPr>
              <a:t>В этой ячейке определяются три функции активации: </a:t>
            </a:r>
            <a:r>
              <a:rPr lang="ru-RU" sz="1100" dirty="0" err="1" smtClean="0">
                <a:latin typeface="Cascadia Mono SemiLight" pitchFamily="49" charset="0"/>
                <a:cs typeface="Cascadia Mono SemiLight" pitchFamily="49" charset="0"/>
              </a:rPr>
              <a:t>sigmoid</a:t>
            </a:r>
            <a:r>
              <a:rPr lang="ru-RU" sz="1100" dirty="0" smtClean="0">
                <a:latin typeface="Cascadia Mono SemiLight" pitchFamily="49" charset="0"/>
                <a:cs typeface="Cascadia Mono SemiLight" pitchFamily="49" charset="0"/>
              </a:rPr>
              <a:t>, </a:t>
            </a:r>
            <a:r>
              <a:rPr lang="ru-RU" sz="1100" dirty="0" err="1" smtClean="0">
                <a:latin typeface="Cascadia Mono SemiLight" pitchFamily="49" charset="0"/>
                <a:cs typeface="Cascadia Mono SemiLight" pitchFamily="49" charset="0"/>
              </a:rPr>
              <a:t>tanh</a:t>
            </a:r>
            <a:r>
              <a:rPr lang="ru-RU" sz="1100" dirty="0" smtClean="0">
                <a:latin typeface="Cascadia Mono SemiLight" pitchFamily="49" charset="0"/>
                <a:cs typeface="Cascadia Mono SemiLight" pitchFamily="49" charset="0"/>
              </a:rPr>
              <a:t> и </a:t>
            </a:r>
            <a:r>
              <a:rPr lang="ru-RU" sz="1100" dirty="0" err="1" smtClean="0">
                <a:latin typeface="Cascadia Mono SemiLight" pitchFamily="49" charset="0"/>
                <a:cs typeface="Cascadia Mono SemiLight" pitchFamily="49" charset="0"/>
              </a:rPr>
              <a:t>relu</a:t>
            </a:r>
            <a:r>
              <a:rPr lang="ru-RU" sz="1100" dirty="0" smtClean="0">
                <a:latin typeface="Cascadia Mono SemiLight" pitchFamily="49" charset="0"/>
                <a:cs typeface="Cascadia Mono SemiLight" pitchFamily="49" charset="0"/>
              </a:rPr>
              <a:t>. Каждая из них принимает на вход число или массив </a:t>
            </a:r>
            <a:r>
              <a:rPr lang="ru-RU" sz="1100" dirty="0" err="1" smtClean="0">
                <a:latin typeface="Cascadia Mono SemiLight" pitchFamily="49" charset="0"/>
                <a:cs typeface="Cascadia Mono SemiLight" pitchFamily="49" charset="0"/>
              </a:rPr>
              <a:t>x</a:t>
            </a:r>
            <a:r>
              <a:rPr lang="ru-RU" sz="1100" dirty="0" smtClean="0">
                <a:latin typeface="Cascadia Mono SemiLight" pitchFamily="49" charset="0"/>
                <a:cs typeface="Cascadia Mono SemiLight" pitchFamily="49" charset="0"/>
              </a:rPr>
              <a:t> и возвращает результат по своей формуле. Позже мы сможем использовать их внутри нейронной сети.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2362200"/>
            <a:ext cx="4694501" cy="2799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52400"/>
            <a:ext cx="9067800" cy="3886199"/>
          </a:xfrm>
        </p:spPr>
        <p:txBody>
          <a:bodyPr>
            <a:normAutofit/>
          </a:bodyPr>
          <a:lstStyle/>
          <a:p>
            <a:r>
              <a:rPr lang="ru-RU" sz="1200" dirty="0" smtClean="0">
                <a:latin typeface="Cascadia Mono SemiLight" pitchFamily="49" charset="0"/>
                <a:cs typeface="Cascadia Mono SemiLight" pitchFamily="49" charset="0"/>
              </a:rPr>
              <a:t>Ячейка 2. Пишем класс нейрона</a:t>
            </a:r>
          </a:p>
          <a:p>
            <a:endParaRPr lang="ru-RU" sz="1200" dirty="0" smtClean="0">
              <a:latin typeface="Cascadia Mono SemiLight" pitchFamily="49" charset="0"/>
              <a:cs typeface="Cascadia Mono SemiLight" pitchFamily="49" charset="0"/>
            </a:endParaRPr>
          </a:p>
          <a:p>
            <a:r>
              <a:rPr lang="ru-RU" sz="1200" dirty="0" err="1" smtClean="0">
                <a:latin typeface="Cascadia Mono SemiLight" pitchFamily="49" charset="0"/>
                <a:cs typeface="Cascadia Mono SemiLight" pitchFamily="49" charset="0"/>
              </a:rPr>
              <a:t>class</a:t>
            </a:r>
            <a:r>
              <a:rPr lang="ru-RU" sz="1200" dirty="0" smtClean="0">
                <a:latin typeface="Cascadia Mono SemiLight" pitchFamily="49" charset="0"/>
                <a:cs typeface="Cascadia Mono SemiLight" pitchFamily="49" charset="0"/>
              </a:rPr>
              <a:t> — это ключевое слово для объявления класса, который служит как бы шаблоном для всех конкретных нейронов, которые мы будем создавать на его основе. </a:t>
            </a:r>
          </a:p>
          <a:p>
            <a:r>
              <a:rPr lang="ru-RU" sz="1200" dirty="0" err="1" smtClean="0">
                <a:latin typeface="Cascadia Mono SemiLight" pitchFamily="49" charset="0"/>
                <a:cs typeface="Cascadia Mono SemiLight" pitchFamily="49" charset="0"/>
              </a:rPr>
              <a:t>def</a:t>
            </a:r>
            <a:r>
              <a:rPr lang="ru-RU" sz="1200" dirty="0" smtClean="0">
                <a:latin typeface="Cascadia Mono SemiLight" pitchFamily="49" charset="0"/>
                <a:cs typeface="Cascadia Mono SemiLight" pitchFamily="49" charset="0"/>
              </a:rPr>
              <a:t> </a:t>
            </a:r>
            <a:r>
              <a:rPr lang="ru-RU" sz="1200" dirty="0" err="1" smtClean="0">
                <a:latin typeface="Cascadia Mono SemiLight" pitchFamily="49" charset="0"/>
                <a:cs typeface="Cascadia Mono SemiLight" pitchFamily="49" charset="0"/>
              </a:rPr>
              <a:t>__init__</a:t>
            </a:r>
            <a:r>
              <a:rPr lang="ru-RU" sz="1200" dirty="0" smtClean="0">
                <a:latin typeface="Cascadia Mono SemiLight" pitchFamily="49" charset="0"/>
                <a:cs typeface="Cascadia Mono SemiLight" pitchFamily="49" charset="0"/>
              </a:rPr>
              <a:t>(...) — это специальный метод (конструктор), который автоматически вызывается в момент создания нового объекта-нейрона. В нём мы задаём, какие данные нужны, чтобы «оживить» нейрон:</a:t>
            </a:r>
          </a:p>
          <a:p>
            <a:pPr>
              <a:buNone/>
            </a:pPr>
            <a:r>
              <a:rPr lang="ru-RU" sz="1200" dirty="0" smtClean="0">
                <a:latin typeface="Cascadia Mono SemiLight" pitchFamily="49" charset="0"/>
                <a:cs typeface="Cascadia Mono SemiLight" pitchFamily="49" charset="0"/>
              </a:rPr>
              <a:t>		</a:t>
            </a:r>
            <a:r>
              <a:rPr lang="ru-RU" sz="1200" dirty="0" err="1" smtClean="0">
                <a:latin typeface="Cascadia Mono SemiLight" pitchFamily="49" charset="0"/>
                <a:cs typeface="Cascadia Mono SemiLight" pitchFamily="49" charset="0"/>
              </a:rPr>
              <a:t>weights</a:t>
            </a:r>
            <a:r>
              <a:rPr lang="ru-RU" sz="1200" dirty="0" smtClean="0">
                <a:latin typeface="Cascadia Mono SemiLight" pitchFamily="49" charset="0"/>
                <a:cs typeface="Cascadia Mono SemiLight" pitchFamily="49" charset="0"/>
              </a:rPr>
              <a:t> — список весов (по одному на каждый вход);</a:t>
            </a:r>
          </a:p>
          <a:p>
            <a:pPr>
              <a:buNone/>
            </a:pPr>
            <a:r>
              <a:rPr lang="ru-RU" sz="1200" dirty="0" smtClean="0">
                <a:latin typeface="Cascadia Mono SemiLight" pitchFamily="49" charset="0"/>
                <a:cs typeface="Cascadia Mono SemiLight" pitchFamily="49" charset="0"/>
              </a:rPr>
              <a:t>		</a:t>
            </a:r>
            <a:r>
              <a:rPr lang="ru-RU" sz="1200" dirty="0" err="1" smtClean="0">
                <a:latin typeface="Cascadia Mono SemiLight" pitchFamily="49" charset="0"/>
                <a:cs typeface="Cascadia Mono SemiLight" pitchFamily="49" charset="0"/>
              </a:rPr>
              <a:t>bias</a:t>
            </a:r>
            <a:r>
              <a:rPr lang="ru-RU" sz="1200" dirty="0" smtClean="0">
                <a:latin typeface="Cascadia Mono SemiLight" pitchFamily="49" charset="0"/>
                <a:cs typeface="Cascadia Mono SemiLight" pitchFamily="49" charset="0"/>
              </a:rPr>
              <a:t> — значение смещения;</a:t>
            </a:r>
          </a:p>
          <a:p>
            <a:pPr>
              <a:buNone/>
            </a:pPr>
            <a:r>
              <a:rPr lang="ru-RU" sz="1200" dirty="0" smtClean="0">
                <a:latin typeface="Cascadia Mono SemiLight" pitchFamily="49" charset="0"/>
                <a:cs typeface="Cascadia Mono SemiLight" pitchFamily="49" charset="0"/>
              </a:rPr>
              <a:t>		</a:t>
            </a:r>
            <a:r>
              <a:rPr lang="ru-RU" sz="1200" dirty="0" err="1" smtClean="0">
                <a:latin typeface="Cascadia Mono SemiLight" pitchFamily="49" charset="0"/>
                <a:cs typeface="Cascadia Mono SemiLight" pitchFamily="49" charset="0"/>
              </a:rPr>
              <a:t>activation</a:t>
            </a:r>
            <a:r>
              <a:rPr lang="ru-RU" sz="1200" dirty="0" smtClean="0">
                <a:latin typeface="Cascadia Mono SemiLight" pitchFamily="49" charset="0"/>
                <a:cs typeface="Cascadia Mono SemiLight" pitchFamily="49" charset="0"/>
              </a:rPr>
              <a:t>— имя функции активации.</a:t>
            </a:r>
          </a:p>
          <a:p>
            <a:endParaRPr lang="ru-RU" sz="1200" dirty="0" smtClean="0">
              <a:latin typeface="Cascadia Mono SemiLight" pitchFamily="49" charset="0"/>
              <a:cs typeface="Cascadia Mono SemiLight" pitchFamily="49" charset="0"/>
            </a:endParaRPr>
          </a:p>
          <a:p>
            <a:r>
              <a:rPr lang="ru-RU" sz="1200" dirty="0" smtClean="0">
                <a:latin typeface="Cascadia Mono SemiLight" pitchFamily="49" charset="0"/>
                <a:cs typeface="Cascadia Mono SemiLight" pitchFamily="49" charset="0"/>
              </a:rPr>
              <a:t>Внутри конструктора мы сохраняем переданные значения в атрибуты объекта (</a:t>
            </a:r>
            <a:r>
              <a:rPr lang="ru-RU" sz="1200" dirty="0" err="1" smtClean="0">
                <a:latin typeface="Cascadia Mono SemiLight" pitchFamily="49" charset="0"/>
                <a:cs typeface="Cascadia Mono SemiLight" pitchFamily="49" charset="0"/>
              </a:rPr>
              <a:t>self</a:t>
            </a:r>
            <a:r>
              <a:rPr lang="ru-RU" sz="1200" dirty="0" smtClean="0">
                <a:latin typeface="Cascadia Mono SemiLight" pitchFamily="49" charset="0"/>
                <a:cs typeface="Cascadia Mono SemiLight" pitchFamily="49" charset="0"/>
              </a:rPr>
              <a:t>.):</a:t>
            </a:r>
          </a:p>
          <a:p>
            <a:r>
              <a:rPr lang="ru-RU" sz="1200" dirty="0" err="1" smtClean="0">
                <a:latin typeface="Cascadia Mono SemiLight" pitchFamily="49" charset="0"/>
                <a:cs typeface="Cascadia Mono SemiLight" pitchFamily="49" charset="0"/>
              </a:rPr>
              <a:t>self.weights</a:t>
            </a:r>
            <a:r>
              <a:rPr lang="ru-RU" sz="1200" dirty="0" smtClean="0">
                <a:latin typeface="Cascadia Mono SemiLight" pitchFamily="49" charset="0"/>
                <a:cs typeface="Cascadia Mono SemiLight" pitchFamily="49" charset="0"/>
              </a:rPr>
              <a:t> = </a:t>
            </a:r>
            <a:r>
              <a:rPr lang="ru-RU" sz="1200" dirty="0" err="1" smtClean="0">
                <a:latin typeface="Cascadia Mono SemiLight" pitchFamily="49" charset="0"/>
                <a:cs typeface="Cascadia Mono SemiLight" pitchFamily="49" charset="0"/>
              </a:rPr>
              <a:t>np.array</a:t>
            </a:r>
            <a:r>
              <a:rPr lang="ru-RU" sz="1200" dirty="0" smtClean="0">
                <a:latin typeface="Cascadia Mono SemiLight" pitchFamily="49" charset="0"/>
                <a:cs typeface="Cascadia Mono SemiLight" pitchFamily="49" charset="0"/>
              </a:rPr>
              <a:t>(</a:t>
            </a:r>
            <a:r>
              <a:rPr lang="ru-RU" sz="1200" dirty="0" err="1" smtClean="0">
                <a:latin typeface="Cascadia Mono SemiLight" pitchFamily="49" charset="0"/>
                <a:cs typeface="Cascadia Mono SemiLight" pitchFamily="49" charset="0"/>
              </a:rPr>
              <a:t>weights</a:t>
            </a:r>
            <a:r>
              <a:rPr lang="ru-RU" sz="1200" dirty="0" smtClean="0">
                <a:latin typeface="Cascadia Mono SemiLight" pitchFamily="49" charset="0"/>
                <a:cs typeface="Cascadia Mono SemiLight" pitchFamily="49" charset="0"/>
              </a:rPr>
              <a:t>) — превращаем список весов в массив </a:t>
            </a:r>
            <a:r>
              <a:rPr lang="ru-RU" sz="1200" dirty="0" err="1" smtClean="0">
                <a:latin typeface="Cascadia Mono SemiLight" pitchFamily="49" charset="0"/>
                <a:cs typeface="Cascadia Mono SemiLight" pitchFamily="49" charset="0"/>
              </a:rPr>
              <a:t>NumPy</a:t>
            </a:r>
            <a:r>
              <a:rPr lang="ru-RU" sz="1200" dirty="0" smtClean="0">
                <a:latin typeface="Cascadia Mono SemiLight" pitchFamily="49" charset="0"/>
                <a:cs typeface="Cascadia Mono SemiLight" pitchFamily="49" charset="0"/>
              </a:rPr>
              <a:t>. Это нужно, чтобы потом удобно и быстро выполнять математические операции (например, умножение матриц).</a:t>
            </a:r>
          </a:p>
          <a:p>
            <a:r>
              <a:rPr lang="en-US" sz="1200" dirty="0" err="1" smtClean="0">
                <a:latin typeface="Cascadia Mono SemiLight" pitchFamily="49" charset="0"/>
                <a:cs typeface="Cascadia Mono SemiLight" pitchFamily="49" charset="0"/>
              </a:rPr>
              <a:t>self.bias</a:t>
            </a:r>
            <a:r>
              <a:rPr lang="en-US" sz="1200" dirty="0" smtClean="0">
                <a:latin typeface="Cascadia Mono SemiLight" pitchFamily="49" charset="0"/>
                <a:cs typeface="Cascadia Mono SemiLight" pitchFamily="49" charset="0"/>
              </a:rPr>
              <a:t> = bias — </a:t>
            </a:r>
            <a:r>
              <a:rPr lang="ru-RU" sz="1200" dirty="0" smtClean="0">
                <a:latin typeface="Cascadia Mono SemiLight" pitchFamily="49" charset="0"/>
                <a:cs typeface="Cascadia Mono SemiLight" pitchFamily="49" charset="0"/>
              </a:rPr>
              <a:t>сохраняем смещение.</a:t>
            </a:r>
          </a:p>
          <a:p>
            <a:r>
              <a:rPr lang="en-US" sz="1200" dirty="0" err="1" smtClean="0">
                <a:latin typeface="Cascadia Mono SemiLight" pitchFamily="49" charset="0"/>
                <a:cs typeface="Cascadia Mono SemiLight" pitchFamily="49" charset="0"/>
              </a:rPr>
              <a:t>self.activation</a:t>
            </a:r>
            <a:r>
              <a:rPr lang="en-US" sz="1200" dirty="0" smtClean="0">
                <a:latin typeface="Cascadia Mono SemiLight" pitchFamily="49" charset="0"/>
                <a:cs typeface="Cascadia Mono SemiLight" pitchFamily="49" charset="0"/>
              </a:rPr>
              <a:t> = sigmoid if activation == 'sigmoid' else </a:t>
            </a:r>
            <a:r>
              <a:rPr lang="en-US" sz="1200" dirty="0" err="1" smtClean="0">
                <a:latin typeface="Cascadia Mono SemiLight" pitchFamily="49" charset="0"/>
                <a:cs typeface="Cascadia Mono SemiLight" pitchFamily="49" charset="0"/>
              </a:rPr>
              <a:t>relu</a:t>
            </a:r>
            <a:r>
              <a:rPr lang="en-US" sz="1200" dirty="0" smtClean="0">
                <a:latin typeface="Cascadia Mono SemiLight" pitchFamily="49" charset="0"/>
                <a:cs typeface="Cascadia Mono SemiLight" pitchFamily="49" charset="0"/>
              </a:rPr>
              <a:t> — </a:t>
            </a:r>
            <a:r>
              <a:rPr lang="ru-RU" sz="1200" dirty="0" smtClean="0">
                <a:latin typeface="Cascadia Mono SemiLight" pitchFamily="49" charset="0"/>
                <a:cs typeface="Cascadia Mono SemiLight" pitchFamily="49" charset="0"/>
              </a:rPr>
              <a:t>выбираем функцию активации по имени. Если передано '</a:t>
            </a:r>
            <a:r>
              <a:rPr lang="en-US" sz="1200" dirty="0" smtClean="0">
                <a:latin typeface="Cascadia Mono SemiLight" pitchFamily="49" charset="0"/>
                <a:cs typeface="Cascadia Mono SemiLight" pitchFamily="49" charset="0"/>
              </a:rPr>
              <a:t>sigmoid', </a:t>
            </a:r>
            <a:r>
              <a:rPr lang="ru-RU" sz="1200" dirty="0" smtClean="0">
                <a:latin typeface="Cascadia Mono SemiLight" pitchFamily="49" charset="0"/>
                <a:cs typeface="Cascadia Mono SemiLight" pitchFamily="49" charset="0"/>
              </a:rPr>
              <a:t>в атрибут попадёт функция </a:t>
            </a:r>
            <a:r>
              <a:rPr lang="en-US" sz="1200" dirty="0" smtClean="0">
                <a:latin typeface="Cascadia Mono SemiLight" pitchFamily="49" charset="0"/>
                <a:cs typeface="Cascadia Mono SemiLight" pitchFamily="49" charset="0"/>
              </a:rPr>
              <a:t>sigmoid, </a:t>
            </a:r>
            <a:r>
              <a:rPr lang="ru-RU" sz="1200" dirty="0" smtClean="0">
                <a:latin typeface="Cascadia Mono SemiLight" pitchFamily="49" charset="0"/>
                <a:cs typeface="Cascadia Mono SemiLight" pitchFamily="49" charset="0"/>
              </a:rPr>
              <a:t>иначе — </a:t>
            </a:r>
            <a:r>
              <a:rPr lang="en-US" sz="1200" dirty="0" err="1" smtClean="0">
                <a:latin typeface="Cascadia Mono SemiLight" pitchFamily="49" charset="0"/>
                <a:cs typeface="Cascadia Mono SemiLight" pitchFamily="49" charset="0"/>
              </a:rPr>
              <a:t>relu</a:t>
            </a:r>
            <a:r>
              <a:rPr lang="en-US" sz="1200" dirty="0" smtClean="0">
                <a:latin typeface="Cascadia Mono SemiLight" pitchFamily="49" charset="0"/>
                <a:cs typeface="Cascadia Mono SemiLight" pitchFamily="49" charset="0"/>
              </a:rPr>
              <a:t>. </a:t>
            </a:r>
            <a:r>
              <a:rPr lang="ru-RU" sz="1200" dirty="0" smtClean="0">
                <a:latin typeface="Cascadia Mono SemiLight" pitchFamily="49" charset="0"/>
                <a:cs typeface="Cascadia Mono SemiLight" pitchFamily="49" charset="0"/>
              </a:rPr>
              <a:t>Важно: мы сохраняем саму функцию, а не результат её работы, чтобы вызывать её позже при обработке данных.</a:t>
            </a:r>
          </a:p>
          <a:p>
            <a:pPr>
              <a:buNone/>
            </a:pPr>
            <a:endParaRPr lang="ru-RU" sz="1200" dirty="0" smtClean="0">
              <a:latin typeface="Cascadia Mono SemiLight" pitchFamily="49" charset="0"/>
              <a:cs typeface="Cascadia Mono SemiLight" pitchFamily="49" charset="0"/>
            </a:endParaRPr>
          </a:p>
          <a:p>
            <a:pPr>
              <a:buNone/>
            </a:pPr>
            <a:endParaRPr lang="ru-RU" sz="1200" dirty="0">
              <a:latin typeface="Cascadia Mono SemiLight" pitchFamily="49" charset="0"/>
              <a:cs typeface="Cascadia Mono SemiLight" pitchFamily="49" charset="0"/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4038600"/>
            <a:ext cx="8545513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0"/>
            <a:ext cx="8686800" cy="6126163"/>
          </a:xfrm>
        </p:spPr>
        <p:txBody>
          <a:bodyPr>
            <a:normAutofit/>
          </a:bodyPr>
          <a:lstStyle/>
          <a:p>
            <a:r>
              <a:rPr lang="ru-RU" sz="1400" dirty="0" smtClean="0">
                <a:latin typeface="Cascadia Mono SemiLight" pitchFamily="49" charset="0"/>
                <a:cs typeface="Cascadia Mono SemiLight" pitchFamily="49" charset="0"/>
              </a:rPr>
              <a:t>Дополняем функциональность нейрона</a:t>
            </a:r>
          </a:p>
          <a:p>
            <a:r>
              <a:rPr lang="ru-RU" sz="1400" dirty="0" err="1" smtClean="0">
                <a:latin typeface="Cascadia Mono SemiLight" pitchFamily="49" charset="0"/>
                <a:cs typeface="Cascadia Mono SemiLight" pitchFamily="49" charset="0"/>
              </a:rPr>
              <a:t>def</a:t>
            </a:r>
            <a:r>
              <a:rPr lang="ru-RU" sz="1400" dirty="0" smtClean="0">
                <a:latin typeface="Cascadia Mono SemiLight" pitchFamily="49" charset="0"/>
                <a:cs typeface="Cascadia Mono SemiLight" pitchFamily="49" charset="0"/>
              </a:rPr>
              <a:t> </a:t>
            </a:r>
            <a:r>
              <a:rPr lang="ru-RU" sz="1400" dirty="0" err="1" smtClean="0">
                <a:latin typeface="Cascadia Mono SemiLight" pitchFamily="49" charset="0"/>
                <a:cs typeface="Cascadia Mono SemiLight" pitchFamily="49" charset="0"/>
              </a:rPr>
              <a:t>forward</a:t>
            </a:r>
            <a:r>
              <a:rPr lang="ru-RU" sz="1400" dirty="0" smtClean="0">
                <a:latin typeface="Cascadia Mono SemiLight" pitchFamily="49" charset="0"/>
                <a:cs typeface="Cascadia Mono SemiLight" pitchFamily="49" charset="0"/>
              </a:rPr>
              <a:t>(</a:t>
            </a:r>
            <a:r>
              <a:rPr lang="ru-RU" sz="1400" dirty="0" err="1" smtClean="0">
                <a:latin typeface="Cascadia Mono SemiLight" pitchFamily="49" charset="0"/>
                <a:cs typeface="Cascadia Mono SemiLight" pitchFamily="49" charset="0"/>
              </a:rPr>
              <a:t>self</a:t>
            </a:r>
            <a:r>
              <a:rPr lang="ru-RU" sz="1400" dirty="0" smtClean="0">
                <a:latin typeface="Cascadia Mono SemiLight" pitchFamily="49" charset="0"/>
                <a:cs typeface="Cascadia Mono SemiLight" pitchFamily="49" charset="0"/>
              </a:rPr>
              <a:t>, </a:t>
            </a:r>
            <a:r>
              <a:rPr lang="ru-RU" sz="1400" dirty="0" err="1" smtClean="0">
                <a:latin typeface="Cascadia Mono SemiLight" pitchFamily="49" charset="0"/>
                <a:cs typeface="Cascadia Mono SemiLight" pitchFamily="49" charset="0"/>
              </a:rPr>
              <a:t>inputs</a:t>
            </a:r>
            <a:r>
              <a:rPr lang="ru-RU" sz="1400" dirty="0" smtClean="0">
                <a:latin typeface="Cascadia Mono SemiLight" pitchFamily="49" charset="0"/>
                <a:cs typeface="Cascadia Mono SemiLight" pitchFamily="49" charset="0"/>
              </a:rPr>
              <a:t>): — это метод, который описывает </a:t>
            </a:r>
            <a:r>
              <a:rPr lang="ru-RU" sz="1400" b="1" dirty="0" smtClean="0">
                <a:latin typeface="Cascadia Mono SemiLight" pitchFamily="49" charset="0"/>
                <a:cs typeface="Cascadia Mono SemiLight" pitchFamily="49" charset="0"/>
              </a:rPr>
              <a:t>прямой проход</a:t>
            </a:r>
            <a:r>
              <a:rPr lang="ru-RU" sz="1400" dirty="0" smtClean="0">
                <a:latin typeface="Cascadia Mono SemiLight" pitchFamily="49" charset="0"/>
                <a:cs typeface="Cascadia Mono SemiLight" pitchFamily="49" charset="0"/>
              </a:rPr>
              <a:t> (</a:t>
            </a:r>
            <a:r>
              <a:rPr lang="ru-RU" sz="1400" dirty="0" err="1" smtClean="0">
                <a:latin typeface="Cascadia Mono SemiLight" pitchFamily="49" charset="0"/>
                <a:cs typeface="Cascadia Mono SemiLight" pitchFamily="49" charset="0"/>
              </a:rPr>
              <a:t>forward</a:t>
            </a:r>
            <a:r>
              <a:rPr lang="ru-RU" sz="1400" dirty="0" smtClean="0">
                <a:latin typeface="Cascadia Mono SemiLight" pitchFamily="49" charset="0"/>
                <a:cs typeface="Cascadia Mono SemiLight" pitchFamily="49" charset="0"/>
              </a:rPr>
              <a:t> </a:t>
            </a:r>
            <a:r>
              <a:rPr lang="ru-RU" sz="1400" dirty="0" err="1" smtClean="0">
                <a:latin typeface="Cascadia Mono SemiLight" pitchFamily="49" charset="0"/>
                <a:cs typeface="Cascadia Mono SemiLight" pitchFamily="49" charset="0"/>
              </a:rPr>
              <a:t>pass</a:t>
            </a:r>
            <a:r>
              <a:rPr lang="ru-RU" sz="1400" dirty="0" smtClean="0">
                <a:latin typeface="Cascadia Mono SemiLight" pitchFamily="49" charset="0"/>
                <a:cs typeface="Cascadia Mono SemiLight" pitchFamily="49" charset="0"/>
              </a:rPr>
              <a:t>): то, как нейрон вычисляет свой выход по входным данным (т.е. считает взвешенную сумму). </a:t>
            </a:r>
            <a:r>
              <a:rPr lang="ru-RU" sz="1400" dirty="0" err="1" smtClean="0">
                <a:latin typeface="Cascadia Mono SemiLight" pitchFamily="49" charset="0"/>
                <a:cs typeface="Cascadia Mono SemiLight" pitchFamily="49" charset="0"/>
              </a:rPr>
              <a:t>self</a:t>
            </a:r>
            <a:r>
              <a:rPr lang="ru-RU" sz="1400" dirty="0" smtClean="0">
                <a:latin typeface="Cascadia Mono SemiLight" pitchFamily="49" charset="0"/>
                <a:cs typeface="Cascadia Mono SemiLight" pitchFamily="49" charset="0"/>
              </a:rPr>
              <a:t> — ссылка на конкретный объект-нейрон, а </a:t>
            </a:r>
            <a:r>
              <a:rPr lang="ru-RU" sz="1400" dirty="0" err="1" smtClean="0">
                <a:latin typeface="Cascadia Mono SemiLight" pitchFamily="49" charset="0"/>
                <a:cs typeface="Cascadia Mono SemiLight" pitchFamily="49" charset="0"/>
              </a:rPr>
              <a:t>inputs</a:t>
            </a:r>
            <a:r>
              <a:rPr lang="ru-RU" sz="1400" dirty="0" smtClean="0">
                <a:latin typeface="Cascadia Mono SemiLight" pitchFamily="49" charset="0"/>
                <a:cs typeface="Cascadia Mono SemiLight" pitchFamily="49" charset="0"/>
              </a:rPr>
              <a:t> — входные признаки (число или массив чисел).</a:t>
            </a:r>
          </a:p>
          <a:p>
            <a:r>
              <a:rPr lang="ru-RU" sz="1400" dirty="0" err="1" smtClean="0">
                <a:latin typeface="Cascadia Mono SemiLight" pitchFamily="49" charset="0"/>
                <a:cs typeface="Cascadia Mono SemiLight" pitchFamily="49" charset="0"/>
              </a:rPr>
              <a:t>z</a:t>
            </a:r>
            <a:r>
              <a:rPr lang="ru-RU" sz="1400" dirty="0" smtClean="0">
                <a:latin typeface="Cascadia Mono SemiLight" pitchFamily="49" charset="0"/>
                <a:cs typeface="Cascadia Mono SemiLight" pitchFamily="49" charset="0"/>
              </a:rPr>
              <a:t> = </a:t>
            </a:r>
            <a:r>
              <a:rPr lang="ru-RU" sz="1400" dirty="0" err="1" smtClean="0">
                <a:latin typeface="Cascadia Mono SemiLight" pitchFamily="49" charset="0"/>
                <a:cs typeface="Cascadia Mono SemiLight" pitchFamily="49" charset="0"/>
              </a:rPr>
              <a:t>np.dot</a:t>
            </a:r>
            <a:r>
              <a:rPr lang="ru-RU" sz="1400" dirty="0" smtClean="0">
                <a:latin typeface="Cascadia Mono SemiLight" pitchFamily="49" charset="0"/>
                <a:cs typeface="Cascadia Mono SemiLight" pitchFamily="49" charset="0"/>
              </a:rPr>
              <a:t>(</a:t>
            </a:r>
            <a:r>
              <a:rPr lang="ru-RU" sz="1400" dirty="0" err="1" smtClean="0">
                <a:latin typeface="Cascadia Mono SemiLight" pitchFamily="49" charset="0"/>
                <a:cs typeface="Cascadia Mono SemiLight" pitchFamily="49" charset="0"/>
              </a:rPr>
              <a:t>inputs</a:t>
            </a:r>
            <a:r>
              <a:rPr lang="ru-RU" sz="1400" dirty="0" smtClean="0">
                <a:latin typeface="Cascadia Mono SemiLight" pitchFamily="49" charset="0"/>
                <a:cs typeface="Cascadia Mono SemiLight" pitchFamily="49" charset="0"/>
              </a:rPr>
              <a:t>, </a:t>
            </a:r>
            <a:r>
              <a:rPr lang="ru-RU" sz="1400" dirty="0" err="1" smtClean="0">
                <a:latin typeface="Cascadia Mono SemiLight" pitchFamily="49" charset="0"/>
                <a:cs typeface="Cascadia Mono SemiLight" pitchFamily="49" charset="0"/>
              </a:rPr>
              <a:t>self.weights</a:t>
            </a:r>
            <a:r>
              <a:rPr lang="ru-RU" sz="1400" dirty="0" smtClean="0">
                <a:latin typeface="Cascadia Mono SemiLight" pitchFamily="49" charset="0"/>
                <a:cs typeface="Cascadia Mono SemiLight" pitchFamily="49" charset="0"/>
              </a:rPr>
              <a:t>) + </a:t>
            </a:r>
            <a:r>
              <a:rPr lang="ru-RU" sz="1400" dirty="0" err="1" smtClean="0">
                <a:latin typeface="Cascadia Mono SemiLight" pitchFamily="49" charset="0"/>
                <a:cs typeface="Cascadia Mono SemiLight" pitchFamily="49" charset="0"/>
              </a:rPr>
              <a:t>self.bias</a:t>
            </a:r>
            <a:r>
              <a:rPr lang="ru-RU" sz="1400" dirty="0" smtClean="0">
                <a:latin typeface="Cascadia Mono SemiLight" pitchFamily="49" charset="0"/>
                <a:cs typeface="Cascadia Mono SemiLight" pitchFamily="49" charset="0"/>
              </a:rPr>
              <a:t> — здесь считается взвешенная сумма:</a:t>
            </a:r>
          </a:p>
          <a:p>
            <a:r>
              <a:rPr lang="ru-RU" sz="1400" dirty="0" err="1" smtClean="0">
                <a:latin typeface="Cascadia Mono SemiLight" pitchFamily="49" charset="0"/>
                <a:cs typeface="Cascadia Mono SemiLight" pitchFamily="49" charset="0"/>
              </a:rPr>
              <a:t>np.dot</a:t>
            </a:r>
            <a:r>
              <a:rPr lang="ru-RU" sz="1400" dirty="0" smtClean="0">
                <a:latin typeface="Cascadia Mono SemiLight" pitchFamily="49" charset="0"/>
                <a:cs typeface="Cascadia Mono SemiLight" pitchFamily="49" charset="0"/>
              </a:rPr>
              <a:t>(</a:t>
            </a:r>
            <a:r>
              <a:rPr lang="ru-RU" sz="1400" dirty="0" err="1" smtClean="0">
                <a:latin typeface="Cascadia Mono SemiLight" pitchFamily="49" charset="0"/>
                <a:cs typeface="Cascadia Mono SemiLight" pitchFamily="49" charset="0"/>
              </a:rPr>
              <a:t>inputs</a:t>
            </a:r>
            <a:r>
              <a:rPr lang="ru-RU" sz="1400" dirty="0" smtClean="0">
                <a:latin typeface="Cascadia Mono SemiLight" pitchFamily="49" charset="0"/>
                <a:cs typeface="Cascadia Mono SemiLight" pitchFamily="49" charset="0"/>
              </a:rPr>
              <a:t>, </a:t>
            </a:r>
            <a:r>
              <a:rPr lang="ru-RU" sz="1400" dirty="0" err="1" smtClean="0">
                <a:latin typeface="Cascadia Mono SemiLight" pitchFamily="49" charset="0"/>
                <a:cs typeface="Cascadia Mono SemiLight" pitchFamily="49" charset="0"/>
              </a:rPr>
              <a:t>self.weights</a:t>
            </a:r>
            <a:r>
              <a:rPr lang="ru-RU" sz="1400" dirty="0" smtClean="0">
                <a:latin typeface="Cascadia Mono SemiLight" pitchFamily="49" charset="0"/>
                <a:cs typeface="Cascadia Mono SemiLight" pitchFamily="49" charset="0"/>
              </a:rPr>
              <a:t>) — скалярное произведение входа и весов. Если </a:t>
            </a:r>
            <a:r>
              <a:rPr lang="ru-RU" sz="1400" dirty="0" err="1" smtClean="0">
                <a:latin typeface="Cascadia Mono SemiLight" pitchFamily="49" charset="0"/>
                <a:cs typeface="Cascadia Mono SemiLight" pitchFamily="49" charset="0"/>
              </a:rPr>
              <a:t>inputs</a:t>
            </a:r>
            <a:r>
              <a:rPr lang="ru-RU" sz="1400" dirty="0" smtClean="0">
                <a:latin typeface="Cascadia Mono SemiLight" pitchFamily="49" charset="0"/>
                <a:cs typeface="Cascadia Mono SemiLight" pitchFamily="49" charset="0"/>
              </a:rPr>
              <a:t> — один вектор признаков, результат будет одним числом; если </a:t>
            </a:r>
            <a:r>
              <a:rPr lang="ru-RU" sz="1400" dirty="0" err="1" smtClean="0">
                <a:latin typeface="Cascadia Mono SemiLight" pitchFamily="49" charset="0"/>
                <a:cs typeface="Cascadia Mono SemiLight" pitchFamily="49" charset="0"/>
              </a:rPr>
              <a:t>inputs</a:t>
            </a:r>
            <a:r>
              <a:rPr lang="ru-RU" sz="1400" dirty="0" smtClean="0">
                <a:latin typeface="Cascadia Mono SemiLight" pitchFamily="49" charset="0"/>
                <a:cs typeface="Cascadia Mono SemiLight" pitchFamily="49" charset="0"/>
              </a:rPr>
              <a:t> — матрица (несколько примеров сразу), результатом будет массив значений для каждого примера.</a:t>
            </a:r>
          </a:p>
          <a:p>
            <a:r>
              <a:rPr lang="ru-RU" sz="1400" dirty="0" smtClean="0">
                <a:latin typeface="Cascadia Mono SemiLight" pitchFamily="49" charset="0"/>
                <a:cs typeface="Cascadia Mono SemiLight" pitchFamily="49" charset="0"/>
              </a:rPr>
              <a:t>+ </a:t>
            </a:r>
            <a:r>
              <a:rPr lang="ru-RU" sz="1400" dirty="0" err="1" smtClean="0">
                <a:latin typeface="Cascadia Mono SemiLight" pitchFamily="49" charset="0"/>
                <a:cs typeface="Cascadia Mono SemiLight" pitchFamily="49" charset="0"/>
              </a:rPr>
              <a:t>self.bias</a:t>
            </a:r>
            <a:r>
              <a:rPr lang="ru-RU" sz="1400" dirty="0" smtClean="0">
                <a:latin typeface="Cascadia Mono SemiLight" pitchFamily="49" charset="0"/>
                <a:cs typeface="Cascadia Mono SemiLight" pitchFamily="49" charset="0"/>
              </a:rPr>
              <a:t> — к полученной сумме прибавляется смещение. Оно сдвигает порог срабатывания нейрона, о чём мы говорили раньше.</a:t>
            </a:r>
          </a:p>
          <a:p>
            <a:r>
              <a:rPr lang="ru-RU" sz="1400" dirty="0" err="1" smtClean="0">
                <a:latin typeface="Cascadia Mono SemiLight" pitchFamily="49" charset="0"/>
                <a:cs typeface="Cascadia Mono SemiLight" pitchFamily="49" charset="0"/>
              </a:rPr>
              <a:t>return</a:t>
            </a:r>
            <a:r>
              <a:rPr lang="ru-RU" sz="1400" dirty="0" smtClean="0">
                <a:latin typeface="Cascadia Mono SemiLight" pitchFamily="49" charset="0"/>
                <a:cs typeface="Cascadia Mono SemiLight" pitchFamily="49" charset="0"/>
              </a:rPr>
              <a:t> </a:t>
            </a:r>
            <a:r>
              <a:rPr lang="ru-RU" sz="1400" dirty="0" err="1" smtClean="0">
                <a:latin typeface="Cascadia Mono SemiLight" pitchFamily="49" charset="0"/>
                <a:cs typeface="Cascadia Mono SemiLight" pitchFamily="49" charset="0"/>
              </a:rPr>
              <a:t>self.activation</a:t>
            </a:r>
            <a:r>
              <a:rPr lang="ru-RU" sz="1400" dirty="0" smtClean="0">
                <a:latin typeface="Cascadia Mono SemiLight" pitchFamily="49" charset="0"/>
                <a:cs typeface="Cascadia Mono SemiLight" pitchFamily="49" charset="0"/>
              </a:rPr>
              <a:t>(</a:t>
            </a:r>
            <a:r>
              <a:rPr lang="ru-RU" sz="1400" dirty="0" err="1" smtClean="0">
                <a:latin typeface="Cascadia Mono SemiLight" pitchFamily="49" charset="0"/>
                <a:cs typeface="Cascadia Mono SemiLight" pitchFamily="49" charset="0"/>
              </a:rPr>
              <a:t>z</a:t>
            </a:r>
            <a:r>
              <a:rPr lang="ru-RU" sz="1400" dirty="0" smtClean="0">
                <a:latin typeface="Cascadia Mono SemiLight" pitchFamily="49" charset="0"/>
                <a:cs typeface="Cascadia Mono SemiLight" pitchFamily="49" charset="0"/>
              </a:rPr>
              <a:t>) — к взвешенной сумме применяется функция активации, которая была сохранена в </a:t>
            </a:r>
            <a:r>
              <a:rPr lang="ru-RU" sz="1400" dirty="0" err="1" smtClean="0">
                <a:latin typeface="Cascadia Mono SemiLight" pitchFamily="49" charset="0"/>
                <a:cs typeface="Cascadia Mono SemiLight" pitchFamily="49" charset="0"/>
              </a:rPr>
              <a:t>self.activation</a:t>
            </a:r>
            <a:r>
              <a:rPr lang="ru-RU" sz="1400" dirty="0" smtClean="0">
                <a:latin typeface="Cascadia Mono SemiLight" pitchFamily="49" charset="0"/>
                <a:cs typeface="Cascadia Mono SemiLight" pitchFamily="49" charset="0"/>
              </a:rPr>
              <a:t> (например, </a:t>
            </a:r>
            <a:r>
              <a:rPr lang="ru-RU" sz="1400" dirty="0" err="1" smtClean="0">
                <a:latin typeface="Cascadia Mono SemiLight" pitchFamily="49" charset="0"/>
                <a:cs typeface="Cascadia Mono SemiLight" pitchFamily="49" charset="0"/>
              </a:rPr>
              <a:t>sigmoid</a:t>
            </a:r>
            <a:r>
              <a:rPr lang="ru-RU" sz="1400" dirty="0" smtClean="0">
                <a:latin typeface="Cascadia Mono SemiLight" pitchFamily="49" charset="0"/>
                <a:cs typeface="Cascadia Mono SemiLight" pitchFamily="49" charset="0"/>
              </a:rPr>
              <a:t> или </a:t>
            </a:r>
            <a:r>
              <a:rPr lang="ru-RU" sz="1400" dirty="0" err="1" smtClean="0">
                <a:latin typeface="Cascadia Mono SemiLight" pitchFamily="49" charset="0"/>
                <a:cs typeface="Cascadia Mono SemiLight" pitchFamily="49" charset="0"/>
              </a:rPr>
              <a:t>relu</a:t>
            </a:r>
            <a:r>
              <a:rPr lang="ru-RU" sz="1400" dirty="0" smtClean="0">
                <a:latin typeface="Cascadia Mono SemiLight" pitchFamily="49" charset="0"/>
                <a:cs typeface="Cascadia Mono SemiLight" pitchFamily="49" charset="0"/>
              </a:rPr>
              <a:t>). Именно это значение и возвращается как выход нейрона.</a:t>
            </a:r>
          </a:p>
          <a:p>
            <a:endParaRPr lang="ru-RU" sz="1400" dirty="0">
              <a:latin typeface="Cascadia Mono SemiLight" pitchFamily="49" charset="0"/>
              <a:cs typeface="Cascadia Mono SemiLight" pitchFamily="49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b="19465"/>
          <a:stretch>
            <a:fillRect/>
          </a:stretch>
        </p:blipFill>
        <p:spPr bwMode="auto">
          <a:xfrm>
            <a:off x="228600" y="3785793"/>
            <a:ext cx="8716963" cy="3072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04800" y="2667000"/>
            <a:ext cx="8686800" cy="3886200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neuron1 = </a:t>
            </a:r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Neuron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(</a:t>
            </a:r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weights=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[0.5], bias=-0.2, </a:t>
            </a:r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activation='sigmoid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') — здесь мы создаём конкретный нейрон, используя класс </a:t>
            </a:r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Neuron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, который описали ранее.</a:t>
            </a:r>
          </a:p>
          <a:p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weights=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[0.5] — список из одного веса. Это значит, что у нейрона один вход. Вес равен 0.5.</a:t>
            </a:r>
          </a:p>
          <a:p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bias=-0.2 — смещение отрицательное, то есть нейрон немного «притормаживает» срабатывание.</a:t>
            </a:r>
          </a:p>
          <a:p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activation='sigmoid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' — в качестве функции активации выбрана </a:t>
            </a:r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сигмоида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.</a:t>
            </a:r>
          </a:p>
          <a:p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Эти 3 параметра вы можете задать какие захочет ваша душа)</a:t>
            </a:r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 b="66667"/>
          <a:stretch>
            <a:fillRect/>
          </a:stretch>
        </p:blipFill>
        <p:spPr bwMode="auto">
          <a:xfrm>
            <a:off x="0" y="457200"/>
            <a:ext cx="9221788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52400" y="3429000"/>
            <a:ext cx="8991600" cy="3429000"/>
          </a:xfrm>
        </p:spPr>
        <p:txBody>
          <a:bodyPr>
            <a:normAutofit fontScale="40000" lnSpcReduction="20000"/>
          </a:bodyPr>
          <a:lstStyle/>
          <a:p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for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 </a:t>
            </a:r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x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 </a:t>
            </a:r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in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 [-2, -1, 0, 1, 2]: — запускаем цикл по пяти тестовым значениям входа. Мы хотим посмотреть, как нейрон отреагирует на разные числа.</a:t>
            </a:r>
          </a:p>
          <a:p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out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 = neuron1.forward([</a:t>
            </a:r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x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]) — вызываем у нейрона метод </a:t>
            </a:r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forward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, передавая ему вход в виде списка [</a:t>
            </a:r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x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].</a:t>
            </a:r>
            <a:br>
              <a:rPr lang="ru-RU" dirty="0" smtClean="0">
                <a:latin typeface="Cascadia Mono SemiLight" pitchFamily="49" charset="0"/>
                <a:cs typeface="Cascadia Mono SemiLight" pitchFamily="49" charset="0"/>
              </a:rPr>
            </a:b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Почему список? Потому что метод </a:t>
            </a:r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forward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 ожидает на вход </a:t>
            </a:r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массивоподобный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 объект (как раз для </a:t>
            </a:r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np.dot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). Даже если признак один, мы оборачиваем его в список — так проще единообразно работать с массивами.</a:t>
            </a:r>
            <a:br>
              <a:rPr lang="ru-RU" dirty="0" smtClean="0">
                <a:latin typeface="Cascadia Mono SemiLight" pitchFamily="49" charset="0"/>
                <a:cs typeface="Cascadia Mono SemiLight" pitchFamily="49" charset="0"/>
              </a:rPr>
            </a:b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Внутри </a:t>
            </a:r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forward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 происходит:</a:t>
            </a:r>
          </a:p>
          <a:p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np.dot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([</a:t>
            </a:r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x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], [0.5]) → </a:t>
            </a:r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x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 * 0.5</a:t>
            </a:r>
          </a:p>
          <a:p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Прибавляется смещение: </a:t>
            </a:r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x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 * 0.5 + (-0.2).</a:t>
            </a:r>
          </a:p>
          <a:p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Результат подаётся на </a:t>
            </a:r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сигмоиду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: </a:t>
            </a:r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sigmoid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(</a:t>
            </a:r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x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 * 0.5 - 0.2).</a:t>
            </a:r>
          </a:p>
          <a:p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rint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(</a:t>
            </a:r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f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"</a:t>
            </a:r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x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 = {x:2} -&gt; выход = {out:.4f}") — печатаем строку в удобном формате.</a:t>
            </a:r>
          </a:p>
          <a:p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{x:2} — значение </a:t>
            </a:r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x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, выровненное по правому краю шириной 2 символа.</a:t>
            </a:r>
          </a:p>
          <a:p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{out:.4f} — выходное значение с четырьмя знаками после запятой.</a:t>
            </a:r>
          </a:p>
          <a:p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Видно, что с ростом входа выход плавно увеличивается от 0.23 до 0.69. Это наглядная демонстрация того, как один нейрон с </a:t>
            </a:r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сигмоидой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 преобразует входное число: он не просто умножает на вес, а ещё и «сжимает» результат в диапазон от 0 до 1, делая его удобным для интерпретации как вероятность или степень уверенности.</a:t>
            </a:r>
            <a:endParaRPr lang="ru-RU" dirty="0">
              <a:latin typeface="Cascadia Mono SemiLight" pitchFamily="49" charset="0"/>
              <a:cs typeface="Cascadia Mono SemiLight" pitchFamily="49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0"/>
            <a:ext cx="8382000" cy="3324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28600" y="304800"/>
            <a:ext cx="4572000" cy="5943600"/>
          </a:xfrm>
        </p:spPr>
        <p:txBody>
          <a:bodyPr>
            <a:normAutofit fontScale="40000" lnSpcReduction="20000"/>
          </a:bodyPr>
          <a:lstStyle/>
          <a:p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Далее идет ячейка с построением графика. Этот код мы не будем рассматривать подробно. Обсудим только результат его выполнения.</a:t>
            </a:r>
          </a:p>
          <a:p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Синяя кривая — это график функции активации нашего нейрона. По оси X откладывается входное значение (от -5 до 5), по оси Y — выход нейрона (от 0 до 1).</a:t>
            </a:r>
            <a:r>
              <a:rPr lang="ru-RU" b="1" dirty="0" smtClean="0">
                <a:latin typeface="Cascadia Mono SemiLight" pitchFamily="49" charset="0"/>
                <a:cs typeface="Cascadia Mono SemiLight" pitchFamily="49" charset="0"/>
              </a:rPr>
              <a:t> 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Классическая S-образная кривая </a:t>
            </a:r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сигмоиды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. </a:t>
            </a:r>
          </a:p>
          <a:p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Пунктирная линия на уровне 0.5 — это визуально обозначенный «порог принятия решения». Если выход нейрона выше 0.5, мы можем считать, что нейрон «уверен» в положительном ответе; если ниже — в отрицательном. </a:t>
            </a:r>
          </a:p>
          <a:p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Влияние веса (</a:t>
            </a:r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w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) и смещения (</a:t>
            </a:r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b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). На этом графике видно, как параметры w=0.5 и b=−0.2 формируют конкретный вид кривой:</a:t>
            </a:r>
          </a:p>
          <a:p>
            <a:pPr lvl="1"/>
            <a:r>
              <a:rPr lang="ru-RU" b="1" dirty="0" smtClean="0">
                <a:latin typeface="Cascadia Mono SemiLight" pitchFamily="49" charset="0"/>
                <a:cs typeface="Cascadia Mono SemiLight" pitchFamily="49" charset="0"/>
              </a:rPr>
              <a:t>Смещение b=−0.2</a:t>
            </a:r>
            <a:r>
              <a:rPr lang="ru-RU" b="1" i="1" dirty="0" smtClean="0">
                <a:latin typeface="Cascadia Mono SemiLight" pitchFamily="49" charset="0"/>
                <a:cs typeface="Cascadia Mono SemiLight" pitchFamily="49" charset="0"/>
              </a:rPr>
              <a:t> </a:t>
            </a:r>
            <a:r>
              <a:rPr lang="ru-RU" b="1" dirty="0" smtClean="0">
                <a:latin typeface="Cascadia Mono SemiLight" pitchFamily="49" charset="0"/>
                <a:cs typeface="Cascadia Mono SemiLight" pitchFamily="49" charset="0"/>
              </a:rPr>
              <a:t>сдвигает кривую вправо.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 Это сдвигает момент, когда нейрон начнет склоняться к «положительному» решению. Если бы </a:t>
            </a:r>
            <a:r>
              <a:rPr lang="ru-RU" dirty="0" err="1" smtClean="0">
                <a:latin typeface="Cascadia Mono SemiLight" pitchFamily="49" charset="0"/>
                <a:cs typeface="Cascadia Mono SemiLight" pitchFamily="49" charset="0"/>
              </a:rPr>
              <a:t>b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 было равно 0, точка пересечения с порогом 0.5 находилась бы ровно при x=0. Но из-за отрицательного смещения нейрону нужен чуть больший вход (примерно x=0.4), чтобы выдать 0.5. Т.е. мы задаем порог: когда нейрон решит, что пора склоняться к положительному ответу.</a:t>
            </a:r>
          </a:p>
          <a:p>
            <a:pPr lvl="1">
              <a:buNone/>
            </a:pPr>
            <a:endParaRPr lang="ru-RU" dirty="0" smtClean="0">
              <a:latin typeface="Cascadia Mono SemiLight" pitchFamily="49" charset="0"/>
              <a:cs typeface="Cascadia Mono SemiLight" pitchFamily="49" charset="0"/>
            </a:endParaRPr>
          </a:p>
          <a:p>
            <a:pPr lvl="1"/>
            <a:r>
              <a:rPr lang="ru-RU" b="1" dirty="0" smtClean="0">
                <a:latin typeface="Cascadia Mono SemiLight" pitchFamily="49" charset="0"/>
                <a:cs typeface="Cascadia Mono SemiLight" pitchFamily="49" charset="0"/>
              </a:rPr>
              <a:t>Вес w=0.5 задает наклон.</a:t>
            </a:r>
            <a:r>
              <a:rPr lang="ru-RU" dirty="0" smtClean="0">
                <a:latin typeface="Cascadia Mono SemiLight" pitchFamily="49" charset="0"/>
                <a:cs typeface="Cascadia Mono SemiLight" pitchFamily="49" charset="0"/>
              </a:rPr>
              <a:t> Чувствительность нейрона к изменению входа, это резкость графика. Чем больше вес, тем «круче» была бы кривая (тем резче нейрон переключался бы между состояниями). Здесь наклон довольно пологий, поэтому переход от 0 к 1 занимает широкий диапазон значений X.</a:t>
            </a:r>
          </a:p>
          <a:p>
            <a:endParaRPr lang="ru-RU" dirty="0" smtClean="0">
              <a:latin typeface="Cascadia Mono SemiLight" pitchFamily="49" charset="0"/>
              <a:cs typeface="Cascadia Mono SemiLight" pitchFamily="49" charset="0"/>
            </a:endParaRPr>
          </a:p>
          <a:p>
            <a:endParaRPr lang="ru-RU" dirty="0" smtClean="0">
              <a:latin typeface="Cascadia Mono SemiLight" pitchFamily="49" charset="0"/>
              <a:cs typeface="Cascadia Mono SemiLight" pitchFamily="49" charset="0"/>
            </a:endParaRPr>
          </a:p>
          <a:p>
            <a:endParaRPr lang="ru-RU" dirty="0">
              <a:latin typeface="Cascadia Mono SemiLight" pitchFamily="49" charset="0"/>
              <a:cs typeface="Cascadia Mono SemiLight" pitchFamily="49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1143000"/>
            <a:ext cx="4119563" cy="42791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1000" y="533400"/>
            <a:ext cx="4191000" cy="6019800"/>
          </a:xfrm>
        </p:spPr>
        <p:txBody>
          <a:bodyPr>
            <a:normAutofit fontScale="55000" lnSpcReduction="20000"/>
          </a:bodyPr>
          <a:lstStyle/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Нейрон с двумя входами</a:t>
            </a:r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Нейрон с двумя входами — это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линейный классификатор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. Он умеет делать только одно: проводить прямую линию, которая делит плоскость на две части.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Данная ячейка генерирует линейно разделимые данные — то есть такие, которые можно разделить одной прямой. Мы создаём два облака точек — два класса.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В следующей ячейке мы вручную зададим значения параметров нейрона (веса и смещение) так, чтобы его граница решения — прямая — разделила эти два класса.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/>
            </a:r>
            <a:br>
              <a:rPr lang="ru-RU" dirty="0" smtClean="0">
                <a:latin typeface="Cascadia Code Light" pitchFamily="49" charset="0"/>
                <a:cs typeface="Cascadia Code Light" pitchFamily="49" charset="0"/>
              </a:rPr>
            </a:b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6868" y="1524000"/>
            <a:ext cx="450584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28600" y="228600"/>
            <a:ext cx="8458200" cy="3733799"/>
          </a:xfrm>
        </p:spPr>
        <p:txBody>
          <a:bodyPr>
            <a:normAutofit fontScale="47500" lnSpcReduction="2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В следующей ячейке под комментарием (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#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Параметры нейрона)  нужно создать 3 переменные: 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w1, w2, b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– 2 веса и смещение соответственно. 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Ниже приведены значения, с которыми нейрон построит нужную прямую. Но вы можете поэкспериментировать и найти другую рабочую (или не очень) комбинацию.</a:t>
            </a:r>
          </a:p>
          <a:p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Здесь мы задаем всего 3 параметра, по сути описывающие прямую: 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w1·x1 + w2·x2 + b = 0</a:t>
            </a:r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Или </a:t>
            </a:r>
            <a:endParaRPr lang="en-US" dirty="0" smtClean="0">
              <a:latin typeface="Cascadia Code Light" pitchFamily="49" charset="0"/>
              <a:cs typeface="Cascadia Code Light" pitchFamily="49" charset="0"/>
            </a:endParaRPr>
          </a:p>
          <a:p>
            <a:pPr>
              <a:buNone/>
            </a:pP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			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y = w1/w2 * x  + b/w2</a:t>
            </a:r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pPr>
              <a:buNone/>
            </a:pPr>
            <a:endParaRPr lang="en-US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Эта задача легко решается вручную — у нас всего 3 параметра. А если их 10 миллионов? Как они подбираются на самом деле — тема следующего урока.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А сейчас мы своими усилиями получили работающий линейный классификатор, который разделяет 2 наших облака данных на 2 категории.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Далее рассмотрим практическую ценность нашего нейрона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4267200"/>
            <a:ext cx="88392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04800" y="381001"/>
            <a:ext cx="8458200" cy="914399"/>
          </a:xfrm>
        </p:spPr>
        <p:txBody>
          <a:bodyPr>
            <a:noAutofit/>
          </a:bodyPr>
          <a:lstStyle/>
          <a:p>
            <a:r>
              <a:rPr lang="ru-RU" sz="1800" dirty="0" smtClean="0">
                <a:latin typeface="Cascadia Code Light" pitchFamily="49" charset="0"/>
                <a:cs typeface="Cascadia Code Light" pitchFamily="49" charset="0"/>
              </a:rPr>
              <a:t>После задания параметров можно запускать ячейку. Результат будет подобным:</a:t>
            </a:r>
            <a:endParaRPr lang="ru-RU" sz="1800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286000"/>
            <a:ext cx="3299519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3352800" y="1219201"/>
            <a:ext cx="548640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Рассмотрим практическую значимость проделанной работы. Вернёмся к примеру с милыми </a:t>
            </a:r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пушистиками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. Определим два признака:</a:t>
            </a:r>
          </a:p>
          <a:p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x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₁ — степень пушистости</a:t>
            </a:r>
          </a:p>
          <a:p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x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₂ — размер глаз</a:t>
            </a:r>
          </a:p>
          <a:p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Что означают наши классы</a:t>
            </a:r>
          </a:p>
          <a:p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Синее облако — милые животные (высокая пушистость + большие глаза)</a:t>
            </a:r>
          </a:p>
          <a:p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Красное облако — менее милые (низкая пушистость + маленькие глаза)</a:t>
            </a:r>
          </a:p>
          <a:p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Что мы получили</a:t>
            </a:r>
          </a:p>
          <a:p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Нейрон нашёл границу решения — прямую, которая разделяет эти два класса. По одну сторону прямой — милые, по другую — не очень.</a:t>
            </a:r>
          </a:p>
          <a:p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Как это использовать на практике</a:t>
            </a:r>
          </a:p>
          <a:p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Теперь, когда появляется новое животное, мы:</a:t>
            </a:r>
          </a:p>
          <a:p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Измеряем его пушистость (</a:t>
            </a:r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x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₁) и размер глаз (</a:t>
            </a:r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x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₂).</a:t>
            </a:r>
          </a:p>
          <a:p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Отмечаем точку с этими координатами на плоскости.</a:t>
            </a:r>
          </a:p>
          <a:p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Смотрим, по какую сторону от прямой она оказалась:</a:t>
            </a:r>
          </a:p>
          <a:p>
            <a:pPr lvl="1"/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Попала в «синюю» область → животное милое.</a:t>
            </a:r>
          </a:p>
          <a:p>
            <a:pPr lvl="1"/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Попала в «красную» область → не очень.</a:t>
            </a:r>
            <a:endParaRPr lang="ru-RU" sz="1400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304800" y="5057507"/>
            <a:ext cx="2971800" cy="36933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28600" y="304800"/>
            <a:ext cx="8610600" cy="6172200"/>
          </a:xfrm>
        </p:spPr>
        <p:txBody>
          <a:bodyPr>
            <a:normAutofit/>
          </a:bodyPr>
          <a:lstStyle/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 smtClean="0">
                <a:solidFill>
                  <a:srgbClr val="0F1115"/>
                </a:solidFill>
                <a:latin typeface="Cascadia Code Light" pitchFamily="49" charset="0"/>
                <a:cs typeface="Cascadia Code Light" pitchFamily="49" charset="0"/>
              </a:rPr>
              <a:t>Итог</a:t>
            </a:r>
            <a:endParaRPr lang="ru-RU" sz="2400" dirty="0" smtClean="0">
              <a:latin typeface="Cascadia Code Light" pitchFamily="49" charset="0"/>
              <a:cs typeface="Cascadia Code Light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 smtClean="0">
                <a:solidFill>
                  <a:srgbClr val="0F1115"/>
                </a:solidFill>
                <a:latin typeface="Cascadia Code Light" pitchFamily="49" charset="0"/>
                <a:cs typeface="Cascadia Code Light" pitchFamily="49" charset="0"/>
              </a:rPr>
              <a:t>Наш нейрон превратился в работающий бинарный классификатор:</a:t>
            </a:r>
            <a:endParaRPr lang="ru-RU" sz="2400" dirty="0" smtClean="0">
              <a:latin typeface="Cascadia Code Light" pitchFamily="49" charset="0"/>
              <a:cs typeface="Cascadia Code Light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 smtClean="0">
                <a:latin typeface="Cascadia Code Light" pitchFamily="49" charset="0"/>
                <a:cs typeface="Cascadia Code Light" pitchFamily="49" charset="0"/>
              </a:rPr>
              <a:t>На входе — два числа (признака).</a:t>
            </a:r>
            <a:br>
              <a:rPr lang="ru-RU" sz="2400" dirty="0" smtClean="0">
                <a:latin typeface="Cascadia Code Light" pitchFamily="49" charset="0"/>
                <a:cs typeface="Cascadia Code Light" pitchFamily="49" charset="0"/>
              </a:rPr>
            </a:br>
            <a:r>
              <a:rPr lang="ru-RU" sz="2400" dirty="0" smtClean="0">
                <a:latin typeface="Cascadia Code Light" pitchFamily="49" charset="0"/>
                <a:cs typeface="Cascadia Code Light" pitchFamily="49" charset="0"/>
              </a:rPr>
              <a:t>На выходе — решение: класс 0 или класс 1.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 smtClean="0">
                <a:solidFill>
                  <a:srgbClr val="0F1115"/>
                </a:solidFill>
                <a:latin typeface="Cascadia Code Light" pitchFamily="49" charset="0"/>
                <a:cs typeface="Cascadia Code Light" pitchFamily="49" charset="0"/>
              </a:rPr>
              <a:t>Именно так работают реальные ML-модели: принимают числовые признаки объекта и выдают решение. Разница лишь в том, что у реальных моделей признаков не 2, а тысячи, и граница решения — не прямая, а сложная поверхность.</a:t>
            </a:r>
            <a:endParaRPr lang="ru-RU" sz="2400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ru-RU" sz="2400" dirty="0">
              <a:latin typeface="Cascadia Code Light" pitchFamily="49" charset="0"/>
              <a:cs typeface="Cascadia Code Light" pitchFamily="49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04800" y="457200"/>
            <a:ext cx="8382000" cy="5668963"/>
          </a:xfrm>
        </p:spPr>
        <p:txBody>
          <a:bodyPr>
            <a:normAutofit/>
          </a:bodyPr>
          <a:lstStyle/>
          <a:p>
            <a:r>
              <a:rPr lang="ru-RU" sz="2400" dirty="0" smtClean="0">
                <a:latin typeface="Cascadia Code SemiLight" pitchFamily="49" charset="0"/>
                <a:cs typeface="Cascadia Code SemiLight" pitchFamily="49" charset="0"/>
              </a:rPr>
              <a:t>Мы увидели, что в компьютере все – числа</a:t>
            </a:r>
            <a:br>
              <a:rPr lang="ru-RU" sz="2400" dirty="0" smtClean="0">
                <a:latin typeface="Cascadia Code SemiLight" pitchFamily="49" charset="0"/>
                <a:cs typeface="Cascadia Code SemiLight" pitchFamily="49" charset="0"/>
              </a:rPr>
            </a:br>
            <a:r>
              <a:rPr lang="ru-RU" sz="2400" dirty="0" smtClean="0">
                <a:latin typeface="Cascadia Code SemiLight" pitchFamily="49" charset="0"/>
                <a:cs typeface="Cascadia Code SemiLight" pitchFamily="49" charset="0"/>
              </a:rPr>
              <a:t>Как впихать картинку? </a:t>
            </a:r>
            <a:endParaRPr lang="ru-RU" sz="2400" dirty="0">
              <a:latin typeface="Cascadia Code SemiLight" pitchFamily="49" charset="0"/>
              <a:cs typeface="Cascadia Code SemiLight" pitchFamily="49" charset="0"/>
            </a:endParaRPr>
          </a:p>
        </p:txBody>
      </p:sp>
      <p:pic>
        <p:nvPicPr>
          <p:cNvPr id="11266" name="Picture 2" descr="https://sun9-24.vkuserphoto.ru/s/v1/ig2/AJ77QefPzdHoKe-61TYJScJoEMW3lGfcA_KiU1jfelHP-E0nwarHEXGnhN6bAkBN0EUnPKK05U-z80unyHSnsM8_.jpg?quality=95&amp;as=32x32,48x48,72x72,108x109,160x161,240x241,360x362,480x483,540x543,555x558&amp;from=bu&amp;cs=555x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371600"/>
            <a:ext cx="5105400" cy="513299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563562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Как компьютер работает с изображениями?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6400" y="4061270"/>
            <a:ext cx="7216775" cy="2644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1219200"/>
            <a:ext cx="5257800" cy="2677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86400" y="2971800"/>
            <a:ext cx="3657600" cy="884238"/>
          </a:xfrm>
        </p:spPr>
        <p:txBody>
          <a:bodyPr>
            <a:normAutofit fontScale="90000"/>
          </a:bodyPr>
          <a:lstStyle/>
          <a:p>
            <a:r>
              <a:rPr lang="en-US" dirty="0" err="1" smtClean="0">
                <a:latin typeface="Cascadia Code SemiLight" pitchFamily="49" charset="0"/>
                <a:cs typeface="Cascadia Code SemiLight" pitchFamily="49" charset="0"/>
              </a:rPr>
              <a:t>OpenCV</a:t>
            </a:r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/>
            </a:r>
            <a:br>
              <a:rPr lang="en-US" dirty="0" smtClean="0">
                <a:latin typeface="Cascadia Code SemiLight" pitchFamily="49" charset="0"/>
                <a:cs typeface="Cascadia Code SemiLight" pitchFamily="49" charset="0"/>
              </a:rPr>
            </a:b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Снова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кодить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…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 smtClean="0"/>
          </a:p>
        </p:txBody>
      </p:sp>
      <p:pic>
        <p:nvPicPr>
          <p:cNvPr id="9218" name="Picture 2" descr="https://sun9-22.vkuserphoto.ru/s/v1/ig2/k1qrnR7dnFUPzTME7KvYOAabDIoUGSkUdHDbjSpgJHoc6y5FHjyJPTR7a5oJPd6391M6QDpiKllYM08pYXK-fydA.jpg?quality=95&amp;as=32x40,48x60,72x90,108x135,160x200,240x300,360x450,480x600,540x675,640x800,720x900,736x920&amp;from=bu&amp;cs=736x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152400"/>
            <a:ext cx="5181600" cy="647700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b="1" dirty="0" smtClean="0">
                <a:latin typeface="Cascadia Code Light" pitchFamily="49" charset="0"/>
                <a:cs typeface="Cascadia Code Light" pitchFamily="49" charset="0"/>
              </a:rPr>
              <a:t>Первая ячейка — установка библиотеки </a:t>
            </a:r>
            <a:r>
              <a:rPr lang="ru-RU" sz="2400" b="1" dirty="0" err="1" smtClean="0">
                <a:latin typeface="Cascadia Code Light" pitchFamily="49" charset="0"/>
                <a:cs typeface="Cascadia Code Light" pitchFamily="49" charset="0"/>
              </a:rPr>
              <a:t>OpenCV</a:t>
            </a:r>
            <a:r>
              <a:rPr lang="ru-RU" sz="2400" dirty="0" smtClean="0">
                <a:latin typeface="Cascadia Code Light" pitchFamily="49" charset="0"/>
                <a:cs typeface="Cascadia Code Light" pitchFamily="49" charset="0"/>
              </a:rPr>
              <a:t/>
            </a:r>
            <a:br>
              <a:rPr lang="ru-RU" sz="2400" dirty="0" smtClean="0">
                <a:latin typeface="Cascadia Code Light" pitchFamily="49" charset="0"/>
                <a:cs typeface="Cascadia Code Light" pitchFamily="49" charset="0"/>
              </a:rPr>
            </a:br>
            <a:r>
              <a:rPr lang="ru-RU" sz="2400" dirty="0" smtClean="0">
                <a:latin typeface="Cascadia Code Light" pitchFamily="49" charset="0"/>
                <a:cs typeface="Cascadia Code Light" pitchFamily="49" charset="0"/>
              </a:rPr>
              <a:t/>
            </a:r>
            <a:br>
              <a:rPr lang="ru-RU" sz="2400" dirty="0" smtClean="0">
                <a:latin typeface="Cascadia Code Light" pitchFamily="49" charset="0"/>
                <a:cs typeface="Cascadia Code Light" pitchFamily="49" charset="0"/>
              </a:rPr>
            </a:br>
            <a:endParaRPr lang="ru-RU" sz="2400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1000" y="2971800"/>
            <a:ext cx="8305800" cy="3154363"/>
          </a:xfrm>
        </p:spPr>
        <p:txBody>
          <a:bodyPr>
            <a:normAutofit fontScale="47500" lnSpcReduction="2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Эта команда устанавливает три библиотеки: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opencv-python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, и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scikit-image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.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Важно: установка происходит не на ваш компьютер, а в среду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Google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Colab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то есть в память того виртуального сервера, где выполняется блокнот. Ваше личное устройство при этом не задействуется, и после закрытия сессии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Colab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всё «забудет».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Зачем это нужно: в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Colab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по умолчанию есть не все библиотеки. Команда !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pip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install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добавляет их в текущую сессию, чтобы мы могли ими пользоваться.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Что это за библиотеки:</a:t>
            </a:r>
          </a:p>
          <a:p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opencv-python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самая популярная библиотека для работы с изображениями и видео. Основа компьютерного зрения.</a:t>
            </a:r>
          </a:p>
          <a:p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scikit-image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библиотека с набором готовых изображений и инструментов для их обработки.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 cstate="print"/>
          <a:srcRect b="48936"/>
          <a:stretch>
            <a:fillRect/>
          </a:stretch>
        </p:blipFill>
        <p:spPr bwMode="auto">
          <a:xfrm>
            <a:off x="-228600" y="1066800"/>
            <a:ext cx="9717088" cy="1708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381000"/>
            <a:ext cx="8686800" cy="655638"/>
          </a:xfrm>
        </p:spPr>
        <p:txBody>
          <a:bodyPr>
            <a:noAutofit/>
          </a:bodyPr>
          <a:lstStyle/>
          <a:p>
            <a:r>
              <a:rPr lang="ru-RU" sz="2400" b="1" dirty="0" smtClean="0">
                <a:latin typeface="Cascadia Code Light" pitchFamily="49" charset="0"/>
                <a:cs typeface="Cascadia Code Light" pitchFamily="49" charset="0"/>
              </a:rPr>
              <a:t>Вторая ячейка — импорт библиотек</a:t>
            </a:r>
            <a:r>
              <a:rPr lang="ru-RU" sz="2400" dirty="0" smtClean="0">
                <a:latin typeface="Cascadia Code Light" pitchFamily="49" charset="0"/>
                <a:cs typeface="Cascadia Code Light" pitchFamily="49" charset="0"/>
              </a:rPr>
              <a:t/>
            </a:r>
            <a:br>
              <a:rPr lang="ru-RU" sz="2400" dirty="0" smtClean="0">
                <a:latin typeface="Cascadia Code Light" pitchFamily="49" charset="0"/>
                <a:cs typeface="Cascadia Code Light" pitchFamily="49" charset="0"/>
              </a:rPr>
            </a:br>
            <a:r>
              <a:rPr lang="ru-RU" sz="2400" dirty="0" smtClean="0">
                <a:latin typeface="Cascadia Code Light" pitchFamily="49" charset="0"/>
                <a:cs typeface="Cascadia Code Light" pitchFamily="49" charset="0"/>
              </a:rPr>
              <a:t/>
            </a:r>
            <a:br>
              <a:rPr lang="ru-RU" sz="2400" dirty="0" smtClean="0">
                <a:latin typeface="Cascadia Code Light" pitchFamily="49" charset="0"/>
                <a:cs typeface="Cascadia Code Light" pitchFamily="49" charset="0"/>
              </a:rPr>
            </a:b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28600" y="762001"/>
            <a:ext cx="8610600" cy="3200400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Здесь мы подключаем нужные библиотеки к нашему блокноту, чтобы обращаться к ним по коротким именам.</a:t>
            </a:r>
          </a:p>
          <a:p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numpy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as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np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библиотека для работы с массивами чисел (наши матрицы изображений будут именно такими).</a:t>
            </a:r>
          </a:p>
          <a:p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matplotlib.pyplot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as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plt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для отображения изображений и графиков.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cv2 — это и есть установленная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OpenCV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. </a:t>
            </a:r>
          </a:p>
          <a:p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from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skimage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import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data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импортируем готовые встроенные изображения (например,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data.astronaut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(),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data.camera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()), чтобы нам не пришлось загружать свои файлы.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 cstate="print"/>
          <a:srcRect t="51064" r="15321"/>
          <a:stretch>
            <a:fillRect/>
          </a:stretch>
        </p:blipFill>
        <p:spPr bwMode="auto">
          <a:xfrm>
            <a:off x="-609600" y="4419600"/>
            <a:ext cx="9906000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Загрузка изображения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4800600"/>
            <a:ext cx="8686800" cy="1325563"/>
          </a:xfrm>
        </p:spPr>
        <p:txBody>
          <a:bodyPr>
            <a:normAutofit fontScale="55000" lnSpcReduction="2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Разберем первую строчку кода ячейки</a:t>
            </a:r>
          </a:p>
          <a:p>
            <a:r>
              <a:rPr lang="en-US" dirty="0" err="1" smtClean="0">
                <a:latin typeface="Cascadia Code Light" pitchFamily="49" charset="0"/>
                <a:cs typeface="Cascadia Code Light" pitchFamily="49" charset="0"/>
              </a:rPr>
              <a:t>img_rgb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 = </a:t>
            </a:r>
            <a:r>
              <a:rPr lang="en-US" dirty="0" err="1" smtClean="0">
                <a:latin typeface="Cascadia Code Light" pitchFamily="49" charset="0"/>
                <a:cs typeface="Cascadia Code Light" pitchFamily="49" charset="0"/>
              </a:rPr>
              <a:t>data.coffee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()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– вместо кофе вы можете вписать свой вариант (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astronaut, cat, coffee, retina,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ограничимся)) и выбрать себе полюбившееся изображения для дальнейшей работы в этом блокноте</a:t>
            </a:r>
            <a:endParaRPr lang="en-US" dirty="0" smtClean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90600"/>
            <a:ext cx="4198016" cy="3429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93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1066800"/>
            <a:ext cx="4216400" cy="3442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70000" lnSpcReduction="20000"/>
          </a:bodyPr>
          <a:lstStyle/>
          <a:p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img_rgb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=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data.coffee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() </a:t>
            </a:r>
            <a:r>
              <a:rPr lang="ru-RU" i="1" dirty="0" smtClean="0">
                <a:latin typeface="Cascadia Code Light" pitchFamily="49" charset="0"/>
                <a:cs typeface="Cascadia Code Light" pitchFamily="49" charset="0"/>
              </a:rPr>
              <a:t># загружаем изображение</a:t>
            </a:r>
          </a:p>
          <a:p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Здесь мы загружаем изображение из библиотеки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skimage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.</a:t>
            </a:r>
            <a:br>
              <a:rPr lang="ru-RU" dirty="0" smtClean="0">
                <a:latin typeface="Cascadia Code Light" pitchFamily="49" charset="0"/>
                <a:cs typeface="Cascadia Code Light" pitchFamily="49" charset="0"/>
              </a:rPr>
            </a:b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Команда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data.coffee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() возвращает картинку с чашкой кофе — она уже встроена в библиотеку, ничего скачивать не нужно.</a:t>
            </a:r>
          </a:p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Что можно выбрать вместо кофе:</a:t>
            </a:r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В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skimage.data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есть несколько готовых изображений. Вот самые популярные:</a:t>
            </a:r>
          </a:p>
          <a:p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data.coffee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() - Чашка кофе</a:t>
            </a:r>
          </a:p>
          <a:p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data.astronaut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() - Фотография астронавта</a:t>
            </a:r>
          </a:p>
          <a:p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data.cat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() или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data.chelsea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() – Кошка</a:t>
            </a:r>
          </a:p>
          <a:p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data.retina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() - Снимок сетчатки глаза</a:t>
            </a:r>
          </a:p>
          <a:p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Следующие 5 строчек ячейки – отображение загруженного изображения средствами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plt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0"/>
            <a:ext cx="8686800" cy="6126163"/>
          </a:xfrm>
        </p:spPr>
        <p:txBody>
          <a:bodyPr/>
          <a:lstStyle/>
          <a:p>
            <a:r>
              <a:rPr lang="ru-RU" sz="2000" dirty="0" smtClean="0">
                <a:latin typeface="Cascadia Code Light" pitchFamily="49" charset="0"/>
                <a:cs typeface="Cascadia Code Light" pitchFamily="49" charset="0"/>
              </a:rPr>
              <a:t>В следующей ячейке дописывать ничего не нужно, но мы разберем ее код и посмотрим, что он делает</a:t>
            </a:r>
          </a:p>
          <a:p>
            <a:endParaRPr lang="ru-RU" dirty="0"/>
          </a:p>
        </p:txBody>
      </p:sp>
      <p:pic>
        <p:nvPicPr>
          <p:cNvPr id="6041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066800"/>
            <a:ext cx="8915400" cy="2164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228600" y="3505200"/>
            <a:ext cx="8686800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 err="1" smtClean="0">
                <a:latin typeface="Cascadia Code Light" pitchFamily="49" charset="0"/>
                <a:cs typeface="Cascadia Code Light" pitchFamily="49" charset="0"/>
              </a:rPr>
              <a:t>Img_rgb</a:t>
            </a:r>
            <a:r>
              <a:rPr lang="en-US" sz="1400" dirty="0" smtClean="0">
                <a:latin typeface="Cascadia Code Light" pitchFamily="49" charset="0"/>
                <a:cs typeface="Cascadia Code Light" pitchFamily="49" charset="0"/>
              </a:rPr>
              <a:t> – 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название переменной, в которой мы храним загруженное изображение.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 smtClean="0">
                <a:solidFill>
                  <a:srgbClr val="0F1115"/>
                </a:solidFill>
                <a:latin typeface="Cascadia Code Light" pitchFamily="49" charset="0"/>
                <a:cs typeface="Cascadia Code Light" pitchFamily="49" charset="0"/>
              </a:rPr>
              <a:t>Под этой переменной скрываются три матрицы чисел — по одной на каждый цветовой канал (R, G, B). Вместе они образуют трёхмерный тензор.</a:t>
            </a:r>
            <a:endParaRPr lang="ru-RU" sz="1400" dirty="0" smtClean="0">
              <a:latin typeface="Cascadia Code Light" pitchFamily="49" charset="0"/>
              <a:cs typeface="Cascadia Code Light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1400" dirty="0" smtClean="0">
                <a:solidFill>
                  <a:srgbClr val="0F1115"/>
                </a:solidFill>
                <a:latin typeface="Cascadia Code Light" pitchFamily="49" charset="0"/>
                <a:cs typeface="Cascadia Code Light" pitchFamily="49" charset="0"/>
              </a:rPr>
              <a:t>Почему трёхмерный?</a:t>
            </a:r>
            <a:endParaRPr lang="ru-RU" sz="1400" dirty="0" smtClean="0">
              <a:latin typeface="Cascadia Code Light" pitchFamily="49" charset="0"/>
              <a:cs typeface="Cascadia Code Light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sz="1400" dirty="0" smtClean="0">
                <a:solidFill>
                  <a:srgbClr val="0F1115"/>
                </a:solidFill>
                <a:latin typeface="Cascadia Code Light" pitchFamily="49" charset="0"/>
                <a:cs typeface="Cascadia Code Light" pitchFamily="49" charset="0"/>
              </a:rPr>
              <a:t>Первое измерение — высота изображения (сколько строк пикселей).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sz="1400" dirty="0" smtClean="0">
                <a:solidFill>
                  <a:srgbClr val="0F1115"/>
                </a:solidFill>
                <a:latin typeface="Cascadia Code Light" pitchFamily="49" charset="0"/>
                <a:cs typeface="Cascadia Code Light" pitchFamily="49" charset="0"/>
              </a:rPr>
              <a:t>Второе измерение — ширина (сколько пикселей в строке).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sz="1400" dirty="0" smtClean="0">
                <a:solidFill>
                  <a:srgbClr val="0F1115"/>
                </a:solidFill>
                <a:latin typeface="Cascadia Code Light" pitchFamily="49" charset="0"/>
                <a:cs typeface="Cascadia Code Light" pitchFamily="49" charset="0"/>
              </a:rPr>
              <a:t>Третье измерение — каналы цвета: 0-й — красный, 1-й — зелёный, 2-й — синий.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1400" dirty="0" smtClean="0">
                <a:solidFill>
                  <a:srgbClr val="0F1115"/>
                </a:solidFill>
                <a:latin typeface="Cascadia Code Light" pitchFamily="49" charset="0"/>
                <a:cs typeface="Cascadia Code Light" pitchFamily="49" charset="0"/>
              </a:rPr>
              <a:t>То есть </a:t>
            </a:r>
            <a:r>
              <a:rPr lang="ru-RU" sz="1400" dirty="0" err="1" smtClean="0">
                <a:solidFill>
                  <a:srgbClr val="0F1115"/>
                </a:solidFill>
                <a:latin typeface="Cascadia Code Light" pitchFamily="49" charset="0"/>
                <a:cs typeface="Cascadia Code Light" pitchFamily="49" charset="0"/>
              </a:rPr>
              <a:t>img_rgb</a:t>
            </a:r>
            <a:r>
              <a:rPr lang="ru-RU" sz="1400" dirty="0" smtClean="0">
                <a:solidFill>
                  <a:srgbClr val="0F1115"/>
                </a:solidFill>
                <a:latin typeface="Cascadia Code Light" pitchFamily="49" charset="0"/>
                <a:cs typeface="Cascadia Code Light" pitchFamily="49" charset="0"/>
              </a:rPr>
              <a:t>[</a:t>
            </a:r>
            <a:r>
              <a:rPr lang="ru-RU" sz="1400" dirty="0" err="1" smtClean="0">
                <a:solidFill>
                  <a:srgbClr val="0F1115"/>
                </a:solidFill>
                <a:latin typeface="Cascadia Code Light" pitchFamily="49" charset="0"/>
                <a:cs typeface="Cascadia Code Light" pitchFamily="49" charset="0"/>
              </a:rPr>
              <a:t>i</a:t>
            </a:r>
            <a:r>
              <a:rPr lang="ru-RU" sz="1400" dirty="0" smtClean="0">
                <a:solidFill>
                  <a:srgbClr val="0F1115"/>
                </a:solidFill>
                <a:latin typeface="Cascadia Code Light" pitchFamily="49" charset="0"/>
                <a:cs typeface="Cascadia Code Light" pitchFamily="49" charset="0"/>
              </a:rPr>
              <a:t>, </a:t>
            </a:r>
            <a:r>
              <a:rPr lang="ru-RU" sz="1400" dirty="0" err="1" smtClean="0">
                <a:solidFill>
                  <a:srgbClr val="0F1115"/>
                </a:solidFill>
                <a:latin typeface="Cascadia Code Light" pitchFamily="49" charset="0"/>
                <a:cs typeface="Cascadia Code Light" pitchFamily="49" charset="0"/>
              </a:rPr>
              <a:t>j</a:t>
            </a:r>
            <a:r>
              <a:rPr lang="ru-RU" sz="1400" dirty="0" smtClean="0">
                <a:solidFill>
                  <a:srgbClr val="0F1115"/>
                </a:solidFill>
                <a:latin typeface="Cascadia Code Light" pitchFamily="49" charset="0"/>
                <a:cs typeface="Cascadia Code Light" pitchFamily="49" charset="0"/>
              </a:rPr>
              <a:t>, </a:t>
            </a:r>
            <a:r>
              <a:rPr lang="ru-RU" sz="1400" dirty="0" err="1" smtClean="0">
                <a:solidFill>
                  <a:srgbClr val="0F1115"/>
                </a:solidFill>
                <a:latin typeface="Cascadia Code Light" pitchFamily="49" charset="0"/>
                <a:cs typeface="Cascadia Code Light" pitchFamily="49" charset="0"/>
              </a:rPr>
              <a:t>k</a:t>
            </a:r>
            <a:r>
              <a:rPr lang="ru-RU" sz="1400" dirty="0" smtClean="0">
                <a:solidFill>
                  <a:srgbClr val="0F1115"/>
                </a:solidFill>
                <a:latin typeface="Cascadia Code Light" pitchFamily="49" charset="0"/>
                <a:cs typeface="Cascadia Code Light" pitchFamily="49" charset="0"/>
              </a:rPr>
              <a:t>] — это значение k-го канала в пикселе, который находится в </a:t>
            </a:r>
            <a:r>
              <a:rPr lang="ru-RU" sz="1400" dirty="0" err="1" smtClean="0">
                <a:solidFill>
                  <a:srgbClr val="0F1115"/>
                </a:solidFill>
                <a:latin typeface="Cascadia Code Light" pitchFamily="49" charset="0"/>
                <a:cs typeface="Cascadia Code Light" pitchFamily="49" charset="0"/>
              </a:rPr>
              <a:t>i-й</a:t>
            </a:r>
            <a:r>
              <a:rPr lang="ru-RU" sz="1400" dirty="0" smtClean="0">
                <a:solidFill>
                  <a:srgbClr val="0F1115"/>
                </a:solidFill>
                <a:latin typeface="Cascadia Code Light" pitchFamily="49" charset="0"/>
                <a:cs typeface="Cascadia Code Light" pitchFamily="49" charset="0"/>
              </a:rPr>
              <a:t> строке и j-м столбце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1400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en-US" sz="1400" dirty="0" smtClean="0">
                <a:latin typeface="Cascadia Code Light" pitchFamily="49" charset="0"/>
                <a:cs typeface="Cascadia Code Light" pitchFamily="49" charset="0"/>
              </a:rPr>
              <a:t>.shape  / .</a:t>
            </a:r>
            <a:r>
              <a:rPr lang="en-US" sz="1400" dirty="0" err="1" smtClean="0">
                <a:latin typeface="Cascadia Code Light" pitchFamily="49" charset="0"/>
                <a:cs typeface="Cascadia Code Light" pitchFamily="49" charset="0"/>
              </a:rPr>
              <a:t>dtype</a:t>
            </a:r>
            <a:r>
              <a:rPr lang="en-US" sz="1400" dirty="0" smtClean="0">
                <a:latin typeface="Cascadia Code Light" pitchFamily="49" charset="0"/>
                <a:cs typeface="Cascadia Code Light" pitchFamily="49" charset="0"/>
              </a:rPr>
              <a:t> / .min()/ .max() – 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атрибуты массива </a:t>
            </a:r>
            <a:r>
              <a:rPr lang="en-US" sz="1400" dirty="0" err="1" smtClean="0">
                <a:latin typeface="Cascadia Code Light" pitchFamily="49" charset="0"/>
                <a:cs typeface="Cascadia Code Light" pitchFamily="49" charset="0"/>
              </a:rPr>
              <a:t>np</a:t>
            </a:r>
            <a:endParaRPr lang="ru-RU" sz="1400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ru-RU" sz="1400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Атрибут — это характеристика объекта, к которой обращаются через точку. У массива </a:t>
            </a:r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NumPy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 есть набор встроенных атрибутов, которые описывают сам массив: его форму, тип данных, размер и т.д.</a:t>
            </a:r>
          </a:p>
          <a:p>
            <a:r>
              <a:rPr lang="ru-RU" sz="1400" dirty="0" smtClean="0"/>
              <a:t/>
            </a:r>
            <a:br>
              <a:rPr lang="ru-RU" sz="1400" dirty="0" smtClean="0"/>
            </a:br>
            <a:endParaRPr lang="ru-RU" sz="1400" dirty="0" smtClean="0">
              <a:latin typeface="Cascadia Code Light" pitchFamily="49" charset="0"/>
              <a:cs typeface="Cascadia Code Light" pitchFamily="49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1000" y="762000"/>
            <a:ext cx="8305800" cy="5364163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Этот код выводит три ключевых параметра изображения, которые помогают понять его структуру:</a:t>
            </a:r>
          </a:p>
          <a:p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img_rgb.shape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— размерность массива.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/>
            </a:r>
            <a:br>
              <a:rPr lang="ru-RU" dirty="0" smtClean="0">
                <a:latin typeface="Cascadia Code Light" pitchFamily="49" charset="0"/>
                <a:cs typeface="Cascadia Code Light" pitchFamily="49" charset="0"/>
              </a:rPr>
            </a:b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Результат (400, 600, 3) означает: 400 пикселей в высоту, 600 в ширину и 3 цветовых канала (R, G, B).</a:t>
            </a:r>
            <a:br>
              <a:rPr lang="ru-RU" dirty="0" smtClean="0">
                <a:latin typeface="Cascadia Code Light" pitchFamily="49" charset="0"/>
                <a:cs typeface="Cascadia Code Light" pitchFamily="49" charset="0"/>
              </a:rPr>
            </a:b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Примечание: в комментарии указано (512, 512, 3) — это пример для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astronaut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(), а для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coffee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() (или вашего выбранного изображения) размеры будут другими, например, (400, 600, 3).</a:t>
            </a:r>
          </a:p>
          <a:p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img_rgb.dtype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тип данных элементов массива.</a:t>
            </a:r>
            <a:br>
              <a:rPr lang="ru-RU" dirty="0" smtClean="0">
                <a:latin typeface="Cascadia Code Light" pitchFamily="49" charset="0"/>
                <a:cs typeface="Cascadia Code Light" pitchFamily="49" charset="0"/>
              </a:rPr>
            </a:b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uint8 означает «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беззнаковое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целое 8 бит» — то есть числа от 0 до 255. Это стандартный формат для изображений.</a:t>
            </a:r>
          </a:p>
          <a:p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img_rgb.min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() и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img_rgb.max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()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— минимальное и максимальное значение пикселя во всём изображении.</a:t>
            </a:r>
            <a:br>
              <a:rPr lang="ru-RU" dirty="0" smtClean="0">
                <a:latin typeface="Cascadia Code Light" pitchFamily="49" charset="0"/>
                <a:cs typeface="Cascadia Code Light" pitchFamily="49" charset="0"/>
              </a:rPr>
            </a:b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Здесь 0 — это самый тёмный пиксель (чёрный), а 255 — самый яркий (белый). Эти значения показывают, насколько полно изображение использует доступный диапазон яркости.</a:t>
            </a:r>
          </a:p>
          <a:p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28600" y="2971800"/>
            <a:ext cx="8915400" cy="3886200"/>
          </a:xfrm>
        </p:spPr>
        <p:txBody>
          <a:bodyPr>
            <a:normAutofit fontScale="47500" lnSpcReduction="2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Следующая ячейка позволяет посмотреть на изображение глазами компьютера – выведем 2 пикселя, каждый из них – массив из трех чисел 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(R, G,B)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.</a:t>
            </a:r>
          </a:p>
          <a:p>
            <a:pPr>
              <a:buNone/>
            </a:pP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Теперь непосредственно к коду: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Ключевой момент —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срез (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slice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)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[:2, :1].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В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NumPy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срезы работают по формуле [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start:stop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], где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start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включается, а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stop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нет. Если не указан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start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, 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Python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поставит 0, т.е. начать с самого начала. Если не указан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stop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, 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Python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поставит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послений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индекс, т.е. идти до самого конца.</a:t>
            </a:r>
          </a:p>
          <a:p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:2 — это сокращение от 0:2. Значит: «взять строки с 0-й по 1-ю включительно» (то есть 2 строки).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:1 — это сокращение от 0:1. Значит: «взять столбец с 0-й по 0-ю» (то есть 1 столбец).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Третья ось (цветовые каналы) не указана, поэтому берутся все три канала (R, G, B).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Итог: мы получаем кусочек изображения размером 2 строки × 1 столбец × 3 канала. Это форма (2, 1, 3).</a:t>
            </a:r>
          </a:p>
          <a:p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6144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8600"/>
            <a:ext cx="8135938" cy="2311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28600" y="2971800"/>
            <a:ext cx="8915400" cy="3886200"/>
          </a:xfrm>
        </p:spPr>
        <p:txBody>
          <a:bodyPr>
            <a:normAutofit fontScale="55000" lnSpcReduction="2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Как читать вывод?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Разберём по уровням вложенности:</a:t>
            </a:r>
          </a:p>
          <a:p>
            <a:pPr>
              <a:buNone/>
            </a:pP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	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Внешние скобки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— это весь наш срез.</a:t>
            </a:r>
          </a:p>
          <a:p>
            <a:pPr>
              <a:buNone/>
            </a:pP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	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Средние скобки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[[...]] — это одна строка пикселей (у нас их две).</a:t>
            </a:r>
          </a:p>
          <a:p>
            <a:pPr>
              <a:buNone/>
            </a:pP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	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Внутренние скобки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[21 13 8] — это один пиксель, состоящий из трёх чисел: R=21, G=13, B=8.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Что это значит на практике:</a:t>
            </a:r>
          </a:p>
          <a:p>
            <a:pPr>
              <a:buNone/>
            </a:pP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	Цвет (21, 13, 8) — это очень тёмный коричневый (почти чёрный).</a:t>
            </a:r>
          </a:p>
          <a:p>
            <a:pPr>
              <a:buNone/>
            </a:pP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	R немного больше G и B — значит, в этом пикселе преобладает красноватый оттенок.</a:t>
            </a:r>
          </a:p>
          <a:p>
            <a:pPr>
              <a:buNone/>
            </a:pP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/>
            </a:r>
            <a:br>
              <a:rPr lang="ru-RU" dirty="0" smtClean="0">
                <a:latin typeface="Cascadia Code Light" pitchFamily="49" charset="0"/>
                <a:cs typeface="Cascadia Code Light" pitchFamily="49" charset="0"/>
              </a:rPr>
            </a:br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6144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8600"/>
            <a:ext cx="8135938" cy="2311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228600"/>
            <a:ext cx="9144000" cy="3581400"/>
          </a:xfrm>
        </p:spPr>
        <p:txBody>
          <a:bodyPr>
            <a:normAutofit fontScale="47500" lnSpcReduction="2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Код следующей ячейки – функция, которую мы далее будем использовать для отображения нескольких изображений в ряд, эту ячейку тоже надо запустить, чтобы среда знала о ее существовании. </a:t>
            </a:r>
          </a:p>
          <a:p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def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ключевое слово, объявляющее функцию.</a:t>
            </a:r>
          </a:p>
          <a:p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show_images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имя функции.</a:t>
            </a:r>
          </a:p>
          <a:p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images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первый параметр: список изображений (массивов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NumPy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), которые нужно отобразить.</a:t>
            </a:r>
          </a:p>
          <a:p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titles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второй параметр: список строк с заголовками. Должен быть той же длины, что и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images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.</a:t>
            </a:r>
          </a:p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cols=3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третий параметр: количество колонок в сетке графиков. Значение по умолчанию — 3 (если не указать иное).</a:t>
            </a:r>
          </a:p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Что делает функция: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создаёт фигуру с несколькими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подграфиками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в ряд, отображает каждое изображение и подписывает его заголовком. Если изображение чёрно-белое (двумерное), оно выводится с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cmap='gray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', если цветное — как есть.</a:t>
            </a:r>
          </a:p>
          <a:p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3581400"/>
            <a:ext cx="6084391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452596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Пример вызова: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img_rgb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,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flip_h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,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flip_v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–переменные, в которых хранятся массивы изображений. 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[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img_rgb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,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flip_h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,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flip_v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] – список этих изображений, который передается в функцию. порядок в списке соответствует порядку подписей в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titles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.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["Оригинал", "Отражение по горизонтали", "Отражение по вертикали"] – список подписей для картинок при отображении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cols=3 – число столбцов в сетке</a:t>
            </a:r>
          </a:p>
          <a:p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2" cstate="print"/>
          <a:srcRect r="51054" b="82892"/>
          <a:stretch>
            <a:fillRect/>
          </a:stretch>
        </p:blipFill>
        <p:spPr bwMode="auto">
          <a:xfrm>
            <a:off x="261257" y="4648200"/>
            <a:ext cx="8882743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04800" y="304800"/>
            <a:ext cx="8382000" cy="5821363"/>
          </a:xfrm>
        </p:spPr>
        <p:txBody>
          <a:bodyPr/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Далее мы будем рассматривать геометрические преобразования, масштабирование и обрезку. 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Зачем нам это нужно? Ответ – Аугментация</a:t>
            </a:r>
          </a:p>
          <a:p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2050" name="Picture 2" descr="https://sun9-69.vkuserphoto.ru/s/v1/ig2/QtQP53EnzV4BbSpjMe_Qv_tFyRkxQRCkdUJS8nZXeO1rVmqs3bNQ62hpcXmgKkyfCjRGVpd8eMSA011-i3d_hUQg.jpg?quality=95&amp;as=32x32,48x48,72x72,108x108,160x160,240x240,360x360,480x480,540x540,640x640,720x720,736x736&amp;from=bu&amp;u=CkSCrUymzAF-FNEjMhTHgihb57lHPjrj3dBAnxfCQew&amp;cs=736x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81400" y="2514600"/>
            <a:ext cx="3809999" cy="381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Аугментация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04800" y="1143000"/>
            <a:ext cx="8458200" cy="5029199"/>
          </a:xfrm>
        </p:spPr>
        <p:txBody>
          <a:bodyPr>
            <a:noAutofit/>
          </a:bodyPr>
          <a:lstStyle/>
          <a:p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Аугментация — это искусственное расширение </a:t>
            </a: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датасета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 путём создания изменённых версий существующих изображений. Мы не собираем новые фото, а модифицируем уже имеющиеся, сохраняя их ключевые признаки.</a:t>
            </a:r>
          </a:p>
          <a:p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Зачем это нужно:</a:t>
            </a:r>
          </a:p>
          <a:p>
            <a:pPr>
              <a:buNone/>
            </a:pP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		Защита от переобучения → модель не запоминает конкретные картинки, а учится на вариациях.</a:t>
            </a:r>
          </a:p>
          <a:p>
            <a:pPr>
              <a:buNone/>
            </a:pP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		Больше данных → модель лучше учится.</a:t>
            </a:r>
          </a:p>
          <a:p>
            <a:pPr>
              <a:buNone/>
            </a:pP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		Устойчивость к изменениям → модель учится распознавать объект под разными углами, при разном освещении, в разном масштабе.</a:t>
            </a:r>
          </a:p>
          <a:p>
            <a:pPr>
              <a:buNone/>
            </a:pPr>
            <a:endParaRPr lang="ru-RU" sz="1600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Примеры аугментации: отражение, поворот, масштабирование, сдвиг, изменения яркости, добавление шума (небольшие искажения пикселей)</a:t>
            </a:r>
          </a:p>
          <a:p>
            <a:endParaRPr lang="ru-RU" sz="1600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Важно: при аугментации ключевые признаки должны сохраняться. Например:</a:t>
            </a:r>
          </a:p>
          <a:p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Фото кошки можно отразить, повернуть, изменить яркость — она останется кошкой. А если перевернуть изображение цифры «6», получится «9». Для задачи распознавания цифр это уже не аугментация, а искажение метки — так делать нельзя.</a:t>
            </a:r>
          </a:p>
          <a:p>
            <a:endParaRPr lang="ru-RU" sz="1600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ru-RU" sz="1600" dirty="0">
              <a:latin typeface="Cascadia Code Light" pitchFamily="49" charset="0"/>
              <a:cs typeface="Cascadia Code Light" pitchFamily="49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1000" y="1524000"/>
            <a:ext cx="8305800" cy="1981200"/>
          </a:xfrm>
        </p:spPr>
        <p:txBody>
          <a:bodyPr>
            <a:noAutofit/>
          </a:bodyPr>
          <a:lstStyle/>
          <a:p>
            <a:r>
              <a:rPr lang="ru-RU" sz="1800" dirty="0" smtClean="0">
                <a:latin typeface="Cascadia Code Light" pitchFamily="49" charset="0"/>
                <a:cs typeface="Cascadia Code Light" pitchFamily="49" charset="0"/>
              </a:rPr>
              <a:t>Следующая ячейка демонстрирует операцию отражения.</a:t>
            </a:r>
          </a:p>
          <a:p>
            <a:r>
              <a:rPr lang="ru-RU" sz="1800" dirty="0" smtClean="0">
                <a:latin typeface="Cascadia Code Light" pitchFamily="49" charset="0"/>
                <a:cs typeface="Cascadia Code Light" pitchFamily="49" charset="0"/>
              </a:rPr>
              <a:t>Функция cv2.flip принимает 2 параметра:</a:t>
            </a:r>
          </a:p>
          <a:p>
            <a:pPr lvl="1"/>
            <a:r>
              <a:rPr lang="ru-RU" sz="1800" dirty="0" smtClean="0">
                <a:latin typeface="Cascadia Code Light" pitchFamily="49" charset="0"/>
                <a:cs typeface="Cascadia Code Light" pitchFamily="49" charset="0"/>
              </a:rPr>
              <a:t>Изображение — массив </a:t>
            </a:r>
            <a:r>
              <a:rPr lang="ru-RU" sz="1800" dirty="0" err="1" smtClean="0">
                <a:latin typeface="Cascadia Code Light" pitchFamily="49" charset="0"/>
                <a:cs typeface="Cascadia Code Light" pitchFamily="49" charset="0"/>
              </a:rPr>
              <a:t>NumPy</a:t>
            </a:r>
            <a:r>
              <a:rPr lang="ru-RU" sz="1800" dirty="0" smtClean="0">
                <a:latin typeface="Cascadia Code Light" pitchFamily="49" charset="0"/>
                <a:cs typeface="Cascadia Code Light" pitchFamily="49" charset="0"/>
              </a:rPr>
              <a:t>, который нужно отразить.</a:t>
            </a:r>
          </a:p>
          <a:p>
            <a:pPr lvl="1"/>
            <a:r>
              <a:rPr lang="ru-RU" sz="1800" dirty="0" err="1" smtClean="0">
                <a:latin typeface="Cascadia Code Light" pitchFamily="49" charset="0"/>
                <a:cs typeface="Cascadia Code Light" pitchFamily="49" charset="0"/>
              </a:rPr>
              <a:t>flipCode</a:t>
            </a:r>
            <a:r>
              <a:rPr lang="ru-RU" sz="1800" dirty="0" smtClean="0">
                <a:latin typeface="Cascadia Code Light" pitchFamily="49" charset="0"/>
                <a:cs typeface="Cascadia Code Light" pitchFamily="49" charset="0"/>
              </a:rPr>
              <a:t> — код отражения:</a:t>
            </a:r>
          </a:p>
          <a:p>
            <a:pPr lvl="2"/>
            <a:r>
              <a:rPr lang="ru-RU" sz="1800" dirty="0" smtClean="0">
                <a:latin typeface="Cascadia Code Light" pitchFamily="49" charset="0"/>
                <a:cs typeface="Cascadia Code Light" pitchFamily="49" charset="0"/>
              </a:rPr>
              <a:t>1 — отражение по горизонтали (лево ↔ право),</a:t>
            </a:r>
          </a:p>
          <a:p>
            <a:pPr lvl="2"/>
            <a:r>
              <a:rPr lang="ru-RU" sz="1800" dirty="0" smtClean="0">
                <a:latin typeface="Cascadia Code Light" pitchFamily="49" charset="0"/>
                <a:cs typeface="Cascadia Code Light" pitchFamily="49" charset="0"/>
              </a:rPr>
              <a:t>0 — отражение по вертикали (верх ↔ низ),</a:t>
            </a:r>
          </a:p>
          <a:p>
            <a:pPr lvl="2"/>
            <a:r>
              <a:rPr lang="ru-RU" sz="1800" dirty="0" smtClean="0">
                <a:latin typeface="Cascadia Code Light" pitchFamily="49" charset="0"/>
                <a:cs typeface="Cascadia Code Light" pitchFamily="49" charset="0"/>
              </a:rPr>
              <a:t>-1 — отражение по обеим осям одновременно (поворот на 180°).</a:t>
            </a:r>
            <a:endParaRPr lang="ru-RU" sz="1800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4114800"/>
            <a:ext cx="7869237" cy="21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Autofit/>
          </a:bodyPr>
          <a:lstStyle/>
          <a:p>
            <a:r>
              <a:rPr lang="ru-RU" sz="3200" dirty="0" smtClean="0">
                <a:latin typeface="Cascadia Code Light" pitchFamily="49" charset="0"/>
                <a:cs typeface="Cascadia Code Light" pitchFamily="49" charset="0"/>
              </a:rPr>
              <a:t>Отражение по горизонтали и вертикали</a:t>
            </a:r>
            <a:endParaRPr lang="ru-RU" sz="3200" dirty="0">
              <a:latin typeface="Cascadia Code Light" pitchFamily="49" charset="0"/>
              <a:cs typeface="Cascadia Code Light" pitchFamily="49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057400"/>
            <a:ext cx="8555038" cy="32249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>
                <a:latin typeface="Cascadia Code Light" pitchFamily="49" charset="0"/>
                <a:cs typeface="Cascadia Code Light" pitchFamily="49" charset="0"/>
              </a:rPr>
              <a:t>Поворот на 90°, 180°, 270°</a:t>
            </a:r>
            <a:endParaRPr lang="ru-RU" sz="2800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52400" y="3276600"/>
            <a:ext cx="8839200" cy="3581400"/>
          </a:xfrm>
        </p:spPr>
        <p:txBody>
          <a:bodyPr>
            <a:normAutofit fontScale="47500" lnSpcReduction="2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Функция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cv2.rotate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принимает два аргумента:</a:t>
            </a:r>
          </a:p>
          <a:p>
            <a:pPr>
              <a:buNone/>
            </a:pP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		1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Изображение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массив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NumPy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, который нужно повернуть.</a:t>
            </a:r>
          </a:p>
          <a:p>
            <a:pPr>
              <a:buNone/>
            </a:pP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		2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Код поворота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— одна из встроенных констант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OpenCV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:</a:t>
            </a:r>
          </a:p>
          <a:p>
            <a:pPr>
              <a:buNone/>
            </a:pP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	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cv2.ROTATE_90_CLOCKWISE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 -  Поворот на 90° по часовой стрелке (Вправо)</a:t>
            </a:r>
          </a:p>
          <a:p>
            <a:pPr>
              <a:buNone/>
            </a:pP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	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cv2.ROTATE_180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 -  Поворот на 180° (Переворот)</a:t>
            </a:r>
          </a:p>
          <a:p>
            <a:pPr>
              <a:buNone/>
            </a:pP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	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cv2.ROTATE_90_COUNTERCLOCKWISE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-  Поворот на 90° против часовой стрелки (Влево)</a:t>
            </a:r>
          </a:p>
          <a:p>
            <a:pPr>
              <a:buNone/>
            </a:pPr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Важный нюанс: при повороте на 90° и 270° ширина и высота меняются местами. Если исходное изображение было 400×600, после поворота оно станет 600×400. При повороте на 180° размеры остаются прежними.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Порядок каналов не важен: cv2.rotate работает с массивом как с набором пикселей и не зависит от того, RGB это или BGR. Она просто переставляет строки и столбцы.</a:t>
            </a:r>
          </a:p>
          <a:p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78850" name="Picture 2"/>
          <p:cNvPicPr>
            <a:picLocks noChangeAspect="1" noChangeArrowheads="1"/>
          </p:cNvPicPr>
          <p:nvPr/>
        </p:nvPicPr>
        <p:blipFill>
          <a:blip r:embed="rId2" cstate="print"/>
          <a:srcRect t="4155"/>
          <a:stretch>
            <a:fillRect/>
          </a:stretch>
        </p:blipFill>
        <p:spPr bwMode="auto">
          <a:xfrm>
            <a:off x="1371600" y="1219200"/>
            <a:ext cx="7031038" cy="1757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78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600200"/>
            <a:ext cx="8778875" cy="4400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Масштабирование: сжатие и увеличение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400" dirty="0" smtClean="0">
                <a:latin typeface="Cascadia Code Light" pitchFamily="49" charset="0"/>
                <a:cs typeface="Cascadia Code Light" pitchFamily="49" charset="0"/>
              </a:rPr>
              <a:t>Функция cv2.resize принимает три аргумента (третий — необязательный):</a:t>
            </a:r>
          </a:p>
          <a:p>
            <a:pPr>
              <a:buNone/>
            </a:pPr>
            <a:r>
              <a:rPr lang="ru-RU" sz="2400" dirty="0" smtClean="0">
                <a:latin typeface="Cascadia Code Light" pitchFamily="49" charset="0"/>
                <a:cs typeface="Cascadia Code Light" pitchFamily="49" charset="0"/>
              </a:rPr>
              <a:t>		1) Изображение — массив </a:t>
            </a:r>
            <a:r>
              <a:rPr lang="ru-RU" sz="2400" dirty="0" err="1" smtClean="0">
                <a:latin typeface="Cascadia Code Light" pitchFamily="49" charset="0"/>
                <a:cs typeface="Cascadia Code Light" pitchFamily="49" charset="0"/>
              </a:rPr>
              <a:t>NumPy</a:t>
            </a:r>
            <a:r>
              <a:rPr lang="ru-RU" sz="2400" dirty="0" smtClean="0">
                <a:latin typeface="Cascadia Code Light" pitchFamily="49" charset="0"/>
                <a:cs typeface="Cascadia Code Light" pitchFamily="49" charset="0"/>
              </a:rPr>
              <a:t>, который нужно масштабировать.</a:t>
            </a:r>
          </a:p>
          <a:p>
            <a:pPr>
              <a:buNone/>
            </a:pPr>
            <a:r>
              <a:rPr lang="ru-RU" sz="2400" dirty="0" smtClean="0">
                <a:latin typeface="Cascadia Code Light" pitchFamily="49" charset="0"/>
                <a:cs typeface="Cascadia Code Light" pitchFamily="49" charset="0"/>
              </a:rPr>
              <a:t>		2) </a:t>
            </a:r>
            <a:r>
              <a:rPr lang="ru-RU" sz="2400" dirty="0" err="1" smtClean="0">
                <a:latin typeface="Cascadia Code Light" pitchFamily="49" charset="0"/>
                <a:cs typeface="Cascadia Code Light" pitchFamily="49" charset="0"/>
              </a:rPr>
              <a:t>dsize</a:t>
            </a:r>
            <a:r>
              <a:rPr lang="ru-RU" sz="2400" dirty="0" smtClean="0">
                <a:latin typeface="Cascadia Code Light" pitchFamily="49" charset="0"/>
                <a:cs typeface="Cascadia Code Light" pitchFamily="49" charset="0"/>
              </a:rPr>
              <a:t> — новый размер в формате (ширина, высота). Важно: сначала ширина, потом высота — именно в таком порядке, в отличие от .</a:t>
            </a:r>
            <a:r>
              <a:rPr lang="ru-RU" sz="2400" dirty="0" err="1" smtClean="0">
                <a:latin typeface="Cascadia Code Light" pitchFamily="49" charset="0"/>
                <a:cs typeface="Cascadia Code Light" pitchFamily="49" charset="0"/>
              </a:rPr>
              <a:t>shape</a:t>
            </a:r>
            <a:r>
              <a:rPr lang="ru-RU" sz="2400" dirty="0" smtClean="0">
                <a:latin typeface="Cascadia Code Light" pitchFamily="49" charset="0"/>
                <a:cs typeface="Cascadia Code Light" pitchFamily="49" charset="0"/>
              </a:rPr>
              <a:t>, где сначала высота!</a:t>
            </a:r>
          </a:p>
          <a:p>
            <a:pPr>
              <a:buNone/>
            </a:pPr>
            <a:r>
              <a:rPr lang="ru-RU" sz="2400" dirty="0" smtClean="0">
                <a:latin typeface="Cascadia Code Light" pitchFamily="49" charset="0"/>
                <a:cs typeface="Cascadia Code Light" pitchFamily="49" charset="0"/>
              </a:rPr>
              <a:t>		3) </a:t>
            </a:r>
            <a:r>
              <a:rPr lang="ru-RU" sz="2400" dirty="0" err="1" smtClean="0">
                <a:latin typeface="Cascadia Code Light" pitchFamily="49" charset="0"/>
                <a:cs typeface="Cascadia Code Light" pitchFamily="49" charset="0"/>
              </a:rPr>
              <a:t>interpolation</a:t>
            </a:r>
            <a:r>
              <a:rPr lang="ru-RU" sz="2400" dirty="0" smtClean="0">
                <a:latin typeface="Cascadia Code Light" pitchFamily="49" charset="0"/>
                <a:cs typeface="Cascadia Code Light" pitchFamily="49" charset="0"/>
              </a:rPr>
              <a:t> — метод интерполяции (как заполнять новые пиксели). По умолчанию — cv2.INTER_LINEAR.</a:t>
            </a:r>
          </a:p>
          <a:p>
            <a:endParaRPr lang="ru-RU" sz="2400" dirty="0">
              <a:latin typeface="Cascadia Code Light" pitchFamily="49" charset="0"/>
              <a:cs typeface="Cascadia Code Light" pitchFamily="49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Масштабирование: сжатие и увеличение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876800" y="2057400"/>
            <a:ext cx="3810000" cy="4495800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В cv2.resize() третий </a:t>
            </a:r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аргумент (</a:t>
            </a:r>
            <a:r>
              <a:rPr lang="ru-RU" b="1" dirty="0" err="1" smtClean="0">
                <a:latin typeface="Cascadia Code SemiLight" pitchFamily="49" charset="0"/>
                <a:cs typeface="Cascadia Code SemiLight" pitchFamily="49" charset="0"/>
              </a:rPr>
              <a:t>interpolation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) определяет, как именно будут вычисляться новые пиксели. По сути, это правила, по которым программа «додумывает» цвета на новом изображении, основываясь на старом. Давайте разберем каждый метод.</a:t>
            </a:r>
          </a:p>
          <a:p>
            <a:endParaRPr lang="ru-RU" dirty="0"/>
          </a:p>
        </p:txBody>
      </p:sp>
      <p:pic>
        <p:nvPicPr>
          <p:cNvPr id="53250" name="Picture 2" descr="https://sun9-12.vkuserphoto.ru/s/v1/ig2/IrYEqhcw6GWTMj__7R84henk2lBttRALBL8tcrcijk8b87N9N2Y8GWVMSsdpZdmJzKGJdywPkZjyn05NT22G0jg8.jpg?quality=95&amp;as=32x32,48x48,72x72,108x108,160x160,240x240,360x360,480x480,540x540,640x640,720x720&amp;from=bu&amp;cs=720x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828800"/>
            <a:ext cx="4190999" cy="4191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Методы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1) </a:t>
            </a:r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INTER_LINEAR – 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билинейная интерполяция (по умолчанию) 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Суть: новый пиксель – взвешенное среднее четырех ближайших пикселей</a:t>
            </a:r>
          </a:p>
          <a:p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2)</a:t>
            </a:r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INTER_AREA – 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пересчет по площади (для уменьшения)</a:t>
            </a:r>
          </a:p>
          <a:p>
            <a:pPr>
              <a:buNone/>
            </a:pP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Суть: при уменьшении новый пиксель покрывает собой область из старых пикселей, алгоритм вычисляет среднее взвешенное по этой области. </a:t>
            </a:r>
          </a:p>
          <a:p>
            <a:pPr>
              <a:buNone/>
            </a:pPr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3)</a:t>
            </a:r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 INTER_CUBIC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– бикубическая интерполяция (для увеличения)</a:t>
            </a:r>
          </a:p>
          <a:p>
            <a:pPr>
              <a:buNone/>
            </a:pP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Суть: для вычисления нового пикселя используется 16 ближайших соседей, а не 4. Учитывается не только расстояние, но и тренд изменения цвета.</a:t>
            </a:r>
          </a:p>
          <a:p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28600" y="2362200"/>
            <a:ext cx="8458200" cy="3611563"/>
          </a:xfrm>
        </p:spPr>
        <p:txBody>
          <a:bodyPr>
            <a:noAutofit/>
          </a:bodyPr>
          <a:lstStyle/>
          <a:p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height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, </a:t>
            </a: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width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 = </a:t>
            </a: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img_rgb.shape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[:2]</a:t>
            </a:r>
          </a:p>
          <a:p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img_rgb.shape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 возвращает кортеж (высота, ширина, каналы) — например, (400, 600, 3).</a:t>
            </a:r>
          </a:p>
          <a:p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[:2] берёт только первые два элемента: высоту и ширину.</a:t>
            </a:r>
          </a:p>
          <a:p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Результат распаковывается в две переменные: </a:t>
            </a: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height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 = 400, </a:t>
            </a: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width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 = 600. Эти переменные мы будем использовать, чтобы посчитать новый размер</a:t>
            </a:r>
          </a:p>
          <a:p>
            <a:endParaRPr lang="ru-RU" sz="1600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Функция cv2.resize принимает три аргумента: </a:t>
            </a:r>
          </a:p>
          <a:p>
            <a:pPr lvl="1"/>
            <a:r>
              <a:rPr lang="en-US" sz="1600" dirty="0" err="1" smtClean="0">
                <a:latin typeface="Cascadia Code Light" pitchFamily="49" charset="0"/>
                <a:cs typeface="Cascadia Code Light" pitchFamily="49" charset="0"/>
              </a:rPr>
              <a:t>img_rgb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 – </a:t>
            </a: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масив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en-US" sz="1600" dirty="0" err="1" smtClean="0">
                <a:latin typeface="Cascadia Code Light" pitchFamily="49" charset="0"/>
                <a:cs typeface="Cascadia Code Light" pitchFamily="49" charset="0"/>
              </a:rPr>
              <a:t>Numpy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, с нашим изображением, которое будем масштабировать</a:t>
            </a:r>
          </a:p>
          <a:p>
            <a:pPr lvl="1"/>
            <a:r>
              <a:rPr lang="en-US" sz="1600" dirty="0" smtClean="0">
                <a:latin typeface="Cascadia Code Light" pitchFamily="49" charset="0"/>
                <a:cs typeface="Cascadia Code Light" pitchFamily="49" charset="0"/>
              </a:rPr>
              <a:t>d</a:t>
            </a: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size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 - новый размер в формате (ширина, высота). У нас (</a:t>
            </a: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width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*2, </a:t>
            </a: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height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*2) = (1200, 800)</a:t>
            </a:r>
          </a:p>
          <a:p>
            <a:pPr lvl="1"/>
            <a:r>
              <a:rPr lang="en-US" sz="1600" dirty="0" smtClean="0">
                <a:latin typeface="Cascadia Code Light" pitchFamily="49" charset="0"/>
                <a:cs typeface="Cascadia Code Light" pitchFamily="49" charset="0"/>
              </a:rPr>
              <a:t>I</a:t>
            </a: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nterpolation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 - метод интерполяции (как заполнять новые пиксели)</a:t>
            </a:r>
          </a:p>
          <a:p>
            <a:endParaRPr lang="ru-RU" sz="1600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457200"/>
            <a:ext cx="883679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98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381000"/>
            <a:ext cx="8566068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dirty="0" smtClean="0">
                <a:latin typeface="Cascadia Code Light" pitchFamily="49" charset="0"/>
                <a:cs typeface="Cascadia Code Light" pitchFamily="49" charset="0"/>
              </a:rPr>
              <a:t>Обрезка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1000" y="1371600"/>
            <a:ext cx="8229600" cy="2286000"/>
          </a:xfrm>
        </p:spPr>
        <p:txBody>
          <a:bodyPr>
            <a:noAutofit/>
          </a:bodyPr>
          <a:lstStyle/>
          <a:p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Хотим вырезать центральную часть изображения размером </a:t>
            </a:r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200×200 пикселей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. Это равносильно взятию среза из изображения по осям высоты и ширины — каналы не трогаем (берутся все три).</a:t>
            </a:r>
          </a:p>
          <a:p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Чтобы понять, какие границы у нашего среза, определим координаты. Нам нужно найти середину изображения:</a:t>
            </a:r>
          </a:p>
          <a:p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width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//2 — середина по горизонтали (оператор // — целочисленное деление).</a:t>
            </a:r>
          </a:p>
          <a:p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height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//2 — середина по вертикали.</a:t>
            </a:r>
          </a:p>
          <a:p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Затем отступаем по 100 пикселей в каждую сторону:</a:t>
            </a:r>
            <a:endParaRPr lang="ru-RU" sz="1600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819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4038600"/>
            <a:ext cx="8146095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29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838200"/>
            <a:ext cx="5519738" cy="5703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Цветовые пространства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297363"/>
          </a:xfrm>
        </p:spPr>
        <p:txBody>
          <a:bodyPr>
            <a:normAutofit fontScale="85000" lnSpcReduction="10000"/>
          </a:bodyPr>
          <a:lstStyle/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Цветовое пространство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это способ описать цвет с помощью набора чисел. Один и тот же цвет можно представить по-разному, в зависимости от того, какую модель мы используем.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Самые известные:</a:t>
            </a:r>
          </a:p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RGB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красный, зелёный, синий (так работают мониторы).</a:t>
            </a:r>
          </a:p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HSV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тон, насыщенность, яркость (удобно для выделения цвета).</a:t>
            </a:r>
          </a:p>
          <a:p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en-US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2666999"/>
          </a:xfrm>
        </p:spPr>
        <p:txBody>
          <a:bodyPr>
            <a:normAutofit/>
          </a:bodyPr>
          <a:lstStyle/>
          <a:p>
            <a:pPr>
              <a:buNone/>
            </a:pPr>
            <a:endParaRPr lang="ru-RU" sz="1600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en-US" sz="1600" b="1" dirty="0" smtClean="0">
                <a:latin typeface="Cascadia Code Light" pitchFamily="49" charset="0"/>
                <a:cs typeface="Cascadia Code Light" pitchFamily="49" charset="0"/>
              </a:rPr>
              <a:t>RGB – </a:t>
            </a:r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куб.</a:t>
            </a:r>
          </a:p>
          <a:p>
            <a:pPr>
              <a:buNone/>
            </a:pPr>
            <a:endParaRPr lang="ru-RU" sz="1600" b="1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Представьте три оси: по одной откладывается красный, по другой — зелёный, по третьей — синий. Каждая ось — это шкала от 0 до 255.</a:t>
            </a:r>
          </a:p>
          <a:p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Любой цвет — это точка внутри куба, которую задают три координаты: (R, G, B).</a:t>
            </a:r>
          </a:p>
          <a:p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Углы куба — крайние случаи: (0, 0, 0) — чёрный, (255, 255, 255) — белый, (255, 0, 0) — чистый красный и так далее.</a:t>
            </a:r>
          </a:p>
          <a:p>
            <a:endParaRPr lang="ru-RU" sz="1600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en-US" sz="1600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ru-RU" sz="1600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52226" name="Picture 2" descr="https://sun9-44.vkuserphoto.ru/s/v1/ig2/dBxR87NcXiJwRaPnKB92wlAwNx9WAU44hl3PaqMDWrGjENY2ZOQl49LZrx8gOA5_obsVxbi9T8qwZvvSOT9VIhDh.jpg?quality=95&amp;as=32x32,48x48,72x72,108x108,160x160,240x240,360x360,480x480,540x540,640x640,720x720,1080x1080,1280x1280,1440x1440,2560x2560&amp;from=bu&amp;u=gGCiOyfcdWWHFtsq30jeS2dD1WlOKU3SpGFYp3knlpg&amp;cs=2560x0"/>
          <p:cNvPicPr>
            <a:picLocks noChangeAspect="1" noChangeArrowheads="1"/>
          </p:cNvPicPr>
          <p:nvPr/>
        </p:nvPicPr>
        <p:blipFill>
          <a:blip r:embed="rId2" cstate="print"/>
          <a:srcRect l="11224" t="19388" r="11225" b="20408"/>
          <a:stretch>
            <a:fillRect/>
          </a:stretch>
        </p:blipFill>
        <p:spPr bwMode="auto">
          <a:xfrm>
            <a:off x="381000" y="3200400"/>
            <a:ext cx="3657600" cy="2839452"/>
          </a:xfrm>
          <a:prstGeom prst="rect">
            <a:avLst/>
          </a:prstGeom>
          <a:noFill/>
        </p:spPr>
      </p:pic>
      <p:pic>
        <p:nvPicPr>
          <p:cNvPr id="52228" name="Picture 4" descr="https://sun9-40.vkuserphoto.ru/s/v1/ig2/173-XgOSIxUsz6Q-TP-nHXQBj0n4JvhkBgwXpR047rePb4lHpLGTpinbWpOqnI63UJhCfl2UnXX6miW9kknRcCbV.jpg?quality=95&amp;as=32x32,48x48,72x72,108x108,160x160,240x240,360x360,480x480,540x540,640x640,720x720,1080x1080,1280x1280,1440x1440,2560x2560&amp;from=bu&amp;cs=2560x0"/>
          <p:cNvPicPr>
            <a:picLocks noChangeAspect="1" noChangeArrowheads="1"/>
          </p:cNvPicPr>
          <p:nvPr/>
        </p:nvPicPr>
        <p:blipFill>
          <a:blip r:embed="rId3" cstate="print"/>
          <a:srcRect l="9333" t="22667" r="13333" b="24000"/>
          <a:stretch>
            <a:fillRect/>
          </a:stretch>
        </p:blipFill>
        <p:spPr bwMode="auto">
          <a:xfrm>
            <a:off x="4343400" y="3276600"/>
            <a:ext cx="4419600" cy="304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ru-RU" dirty="0" smtClean="0"/>
              <a:t>Пространство </a:t>
            </a:r>
            <a:r>
              <a:rPr lang="en-US" dirty="0" smtClean="0"/>
              <a:t>HSV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28600" y="990600"/>
            <a:ext cx="8915400" cy="1828801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Hue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– тон (цвет от 0 до 180)</a:t>
            </a:r>
            <a:endParaRPr lang="en-US" dirty="0" smtClean="0">
              <a:latin typeface="Cascadia Code SemiLight" pitchFamily="49" charset="0"/>
              <a:cs typeface="Cascadia Code SemiLight" pitchFamily="49" charset="0"/>
            </a:endParaRPr>
          </a:p>
          <a:p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Saturation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– насыщенность (близость к белому, %)</a:t>
            </a:r>
            <a:endParaRPr lang="en-US" dirty="0" smtClean="0">
              <a:latin typeface="Cascadia Code SemiLight" pitchFamily="49" charset="0"/>
              <a:cs typeface="Cascadia Code SemiLight" pitchFamily="49" charset="0"/>
            </a:endParaRPr>
          </a:p>
          <a:p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Value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– яркость (чем меньше, тем темнее, %)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pic>
        <p:nvPicPr>
          <p:cNvPr id="55298" name="Picture 2" descr="https://sun9-43.vkuserphoto.ru/s/v1/ig2/JzziB_8jscjojPBlxsfCh9rvFgnaobw1uZAH2Xa59AdT0AH-WZrQ8uZwXoE1un8OrVVE_S7yAHH995CZzILjbfXV.jpg?quality=95&amp;as=32x32,48x48,72x72,108x108,160x160,240x240,360x360,480x480,540x540,640x640,720x720,1080x1080,1280x1280,1440x1440,2560x2560&amp;from=bu&amp;u=dfQR6Hy8iViVCle_NEwm5ACBDGRQGlE7YDOS9z9VzZA&amp;cs=2560x0"/>
          <p:cNvPicPr>
            <a:picLocks noChangeAspect="1" noChangeArrowheads="1"/>
          </p:cNvPicPr>
          <p:nvPr/>
        </p:nvPicPr>
        <p:blipFill>
          <a:blip r:embed="rId2" cstate="print"/>
          <a:srcRect l="8197" t="32787" r="13115" b="16393"/>
          <a:stretch>
            <a:fillRect/>
          </a:stretch>
        </p:blipFill>
        <p:spPr bwMode="auto">
          <a:xfrm>
            <a:off x="228600" y="2590800"/>
            <a:ext cx="4038600" cy="2608263"/>
          </a:xfrm>
          <a:prstGeom prst="rect">
            <a:avLst/>
          </a:prstGeom>
          <a:noFill/>
        </p:spPr>
      </p:pic>
      <p:pic>
        <p:nvPicPr>
          <p:cNvPr id="55300" name="Picture 4" descr="https://sun9-36.vkuserphoto.ru/s/v1/ig2/UIU8GpfWvM5hdhw91LxUamZu91GyrU7W5SSeGk2QdA02blDIcyppmv1gzbPBt4DdfTF4DSMQy_xIZQ0IC_ajY-VM.jpg?quality=95&amp;as=32x32,48x48,72x72,108x108,160x160,240x240,360x360,480x480,540x540,640x640,720x720,1080x1080,1280x1280,1440x1440,2560x2560&amp;from=bu&amp;cs=2560x0"/>
          <p:cNvPicPr>
            <a:picLocks noChangeAspect="1" noChangeArrowheads="1"/>
          </p:cNvPicPr>
          <p:nvPr/>
        </p:nvPicPr>
        <p:blipFill>
          <a:blip r:embed="rId3" cstate="print"/>
          <a:srcRect l="13043" t="45652" r="15217" b="4348"/>
          <a:stretch>
            <a:fillRect/>
          </a:stretch>
        </p:blipFill>
        <p:spPr bwMode="auto">
          <a:xfrm>
            <a:off x="4724400" y="2514600"/>
            <a:ext cx="2882348" cy="2008909"/>
          </a:xfrm>
          <a:prstGeom prst="rect">
            <a:avLst/>
          </a:prstGeom>
          <a:noFill/>
        </p:spPr>
      </p:pic>
      <p:sp>
        <p:nvSpPr>
          <p:cNvPr id="6" name="Прямоугольник 5"/>
          <p:cNvSpPr/>
          <p:nvPr/>
        </p:nvSpPr>
        <p:spPr>
          <a:xfrm>
            <a:off x="4419600" y="4572000"/>
            <a:ext cx="44958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На картинке слева показана форма HSV — это </a:t>
            </a:r>
            <a:r>
              <a:rPr lang="ru-RU" sz="1200" b="1" dirty="0" smtClean="0">
                <a:latin typeface="Cascadia Code Light" pitchFamily="49" charset="0"/>
                <a:cs typeface="Cascadia Code Light" pitchFamily="49" charset="0"/>
              </a:rPr>
              <a:t>конус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:</a:t>
            </a:r>
          </a:p>
          <a:p>
            <a:r>
              <a:rPr lang="ru-RU" sz="1200" b="1" dirty="0" smtClean="0">
                <a:latin typeface="Cascadia Code Light" pitchFamily="49" charset="0"/>
                <a:cs typeface="Cascadia Code Light" pitchFamily="49" charset="0"/>
              </a:rPr>
              <a:t>Основание (круг)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 — все возможные тона (</a:t>
            </a:r>
            <a:r>
              <a:rPr lang="ru-RU" sz="1200" dirty="0" err="1" smtClean="0">
                <a:latin typeface="Cascadia Code Light" pitchFamily="49" charset="0"/>
                <a:cs typeface="Cascadia Code Light" pitchFamily="49" charset="0"/>
              </a:rPr>
              <a:t>Hue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) при максимальной насыщенности.</a:t>
            </a:r>
          </a:p>
          <a:p>
            <a:r>
              <a:rPr lang="ru-RU" sz="1200" b="1" dirty="0" smtClean="0">
                <a:latin typeface="Cascadia Code Light" pitchFamily="49" charset="0"/>
                <a:cs typeface="Cascadia Code Light" pitchFamily="49" charset="0"/>
              </a:rPr>
              <a:t>Ось снизу вверх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 — </a:t>
            </a:r>
            <a:r>
              <a:rPr lang="ru-RU" sz="1200" dirty="0" err="1" smtClean="0">
                <a:latin typeface="Cascadia Code Light" pitchFamily="49" charset="0"/>
                <a:cs typeface="Cascadia Code Light" pitchFamily="49" charset="0"/>
              </a:rPr>
              <a:t>Value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 (от чёрного к яркому).</a:t>
            </a:r>
          </a:p>
          <a:p>
            <a:r>
              <a:rPr lang="ru-RU" sz="1200" b="1" dirty="0" smtClean="0">
                <a:latin typeface="Cascadia Code Light" pitchFamily="49" charset="0"/>
                <a:cs typeface="Cascadia Code Light" pitchFamily="49" charset="0"/>
              </a:rPr>
              <a:t>От центра к краю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 — </a:t>
            </a:r>
            <a:r>
              <a:rPr lang="ru-RU" sz="1200" dirty="0" err="1" smtClean="0">
                <a:latin typeface="Cascadia Code Light" pitchFamily="49" charset="0"/>
                <a:cs typeface="Cascadia Code Light" pitchFamily="49" charset="0"/>
              </a:rPr>
              <a:t>Saturation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 (от серого к чистому цвету).</a:t>
            </a:r>
          </a:p>
          <a:p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Крайние случаи:</a:t>
            </a:r>
          </a:p>
          <a:p>
            <a:r>
              <a:rPr lang="ru-RU" sz="1200" b="1" dirty="0" smtClean="0">
                <a:latin typeface="Cascadia Code Light" pitchFamily="49" charset="0"/>
                <a:cs typeface="Cascadia Code Light" pitchFamily="49" charset="0"/>
              </a:rPr>
              <a:t>Чёрный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 — V = 0, любой H и S.</a:t>
            </a:r>
          </a:p>
          <a:p>
            <a:r>
              <a:rPr lang="ru-RU" sz="1200" b="1" dirty="0" smtClean="0">
                <a:latin typeface="Cascadia Code Light" pitchFamily="49" charset="0"/>
                <a:cs typeface="Cascadia Code Light" pitchFamily="49" charset="0"/>
              </a:rPr>
              <a:t>Белый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 — S = 0, V = 100%.</a:t>
            </a:r>
          </a:p>
          <a:p>
            <a:r>
              <a:rPr lang="ru-RU" sz="1200" b="1" dirty="0" smtClean="0">
                <a:latin typeface="Cascadia Code Light" pitchFamily="49" charset="0"/>
                <a:cs typeface="Cascadia Code Light" pitchFamily="49" charset="0"/>
              </a:rPr>
              <a:t>Серый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 — S = 0, любое V.</a:t>
            </a:r>
            <a:endParaRPr lang="ru-RU" sz="1200" dirty="0">
              <a:latin typeface="Cascadia Code Light" pitchFamily="49" charset="0"/>
              <a:cs typeface="Cascadia Code Light" pitchFamily="49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Hue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— тон (0–180 в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OpenCV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)</a:t>
            </a:r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Это угол на цветовом круге: 0° — красный, 60° — жёлтый, 120° — зелёный, 180° —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голубой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, 240° — синий, 300° — пурпурный.</a:t>
            </a:r>
          </a:p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Важно: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в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OpenCV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Hue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хранится в диапазоне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0–180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, а не 0–360. Причина — тип данных uint8 (от 0 до 255). Чтобы угол 360° уместился в эти границы, его делят на 2. То есть реальный угол = H × 2.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Saturation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— насыщенность (0–255, или 0–100%)</a:t>
            </a:r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Показывает, насколько цвет «чистый» или разбавленный белым:</a:t>
            </a:r>
          </a:p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S = 100%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чистый, насыщенный цвет.</a:t>
            </a:r>
          </a:p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S = 50%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полутон (например,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розовый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вместо красного).</a:t>
            </a:r>
          </a:p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S = 0%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серый (цвета нет).</a:t>
            </a:r>
          </a:p>
          <a:p>
            <a:pPr>
              <a:buNone/>
            </a:pP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/>
            </a:r>
            <a:br>
              <a:rPr lang="ru-RU" dirty="0" smtClean="0">
                <a:latin typeface="Cascadia Code Light" pitchFamily="49" charset="0"/>
                <a:cs typeface="Cascadia Code Light" pitchFamily="49" charset="0"/>
              </a:rPr>
            </a:b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Value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— яркость (0–255, или 0–100%)</a:t>
            </a:r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Показывает, насколько цвет светлый или тёмный:</a:t>
            </a:r>
          </a:p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V = 100%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максимально яркий.</a:t>
            </a:r>
          </a:p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V = 50%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приглушённый (тёмно-красный вместо красного).</a:t>
            </a:r>
          </a:p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V = 0%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чёрный.</a:t>
            </a:r>
          </a:p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Ключевое различие: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S «разбавляет» цвет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белым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, а V —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чёрным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. Это два независимых параметра.</a:t>
            </a:r>
          </a:p>
          <a:p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smtClean="0">
                <a:latin typeface="Cascadia Code Light" pitchFamily="49" charset="0"/>
                <a:cs typeface="Cascadia Code Light" pitchFamily="49" charset="0"/>
              </a:rPr>
              <a:t>Зачем менять цветовое пространство</a:t>
            </a:r>
            <a:br>
              <a:rPr lang="ru-RU" sz="2800" dirty="0" smtClean="0">
                <a:latin typeface="Cascadia Code Light" pitchFamily="49" charset="0"/>
                <a:cs typeface="Cascadia Code Light" pitchFamily="49" charset="0"/>
              </a:rPr>
            </a:br>
            <a:endParaRPr lang="ru-RU" sz="2800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52400" y="1143001"/>
            <a:ext cx="8839200" cy="2971800"/>
          </a:xfrm>
        </p:spPr>
        <p:txBody>
          <a:bodyPr>
            <a:normAutofit/>
          </a:bodyPr>
          <a:lstStyle/>
          <a:p>
            <a:r>
              <a:rPr lang="ru-RU" sz="2000" dirty="0" smtClean="0">
                <a:latin typeface="Cascadia Code Light" pitchFamily="49" charset="0"/>
                <a:cs typeface="Cascadia Code Light" pitchFamily="49" charset="0"/>
              </a:rPr>
              <a:t>Основная причина — избавиться от шумов.</a:t>
            </a:r>
          </a:p>
          <a:p>
            <a:r>
              <a:rPr lang="ru-RU" sz="2000" dirty="0" smtClean="0">
                <a:latin typeface="Cascadia Code Light" pitchFamily="49" charset="0"/>
                <a:cs typeface="Cascadia Code Light" pitchFamily="49" charset="0"/>
              </a:rPr>
              <a:t>Разные пространства разделяют информацию по-разному:</a:t>
            </a:r>
          </a:p>
          <a:p>
            <a:r>
              <a:rPr lang="ru-RU" sz="2000" dirty="0" smtClean="0">
                <a:latin typeface="Cascadia Code Light" pitchFamily="49" charset="0"/>
                <a:cs typeface="Cascadia Code Light" pitchFamily="49" charset="0"/>
              </a:rPr>
              <a:t>В RGB цвет и яркость «переплетены»: чтобы понять, какой это цвет, нужно смотреть все три канала.</a:t>
            </a:r>
          </a:p>
          <a:p>
            <a:r>
              <a:rPr lang="ru-RU" sz="2000" dirty="0" smtClean="0">
                <a:latin typeface="Cascadia Code Light" pitchFamily="49" charset="0"/>
                <a:cs typeface="Cascadia Code Light" pitchFamily="49" charset="0"/>
              </a:rPr>
              <a:t>В HSV цвет (</a:t>
            </a:r>
            <a:r>
              <a:rPr lang="ru-RU" sz="2000" dirty="0" err="1" smtClean="0">
                <a:latin typeface="Cascadia Code Light" pitchFamily="49" charset="0"/>
                <a:cs typeface="Cascadia Code Light" pitchFamily="49" charset="0"/>
              </a:rPr>
              <a:t>Hue</a:t>
            </a:r>
            <a:r>
              <a:rPr lang="ru-RU" sz="2000" dirty="0" smtClean="0">
                <a:latin typeface="Cascadia Code Light" pitchFamily="49" charset="0"/>
                <a:cs typeface="Cascadia Code Light" pitchFamily="49" charset="0"/>
              </a:rPr>
              <a:t>) отделён от яркости (</a:t>
            </a:r>
            <a:r>
              <a:rPr lang="ru-RU" sz="2000" dirty="0" err="1" smtClean="0">
                <a:latin typeface="Cascadia Code Light" pitchFamily="49" charset="0"/>
                <a:cs typeface="Cascadia Code Light" pitchFamily="49" charset="0"/>
              </a:rPr>
              <a:t>Value</a:t>
            </a:r>
            <a:r>
              <a:rPr lang="ru-RU" sz="2000" dirty="0" smtClean="0">
                <a:latin typeface="Cascadia Code Light" pitchFamily="49" charset="0"/>
                <a:cs typeface="Cascadia Code Light" pitchFamily="49" charset="0"/>
              </a:rPr>
              <a:t>). Это значит, что мы можем, например, выделить объект по цвету, не завися от освещения.</a:t>
            </a:r>
          </a:p>
          <a:p>
            <a:endParaRPr lang="ru-RU" sz="2000" dirty="0">
              <a:latin typeface="Cascadia Code Light" pitchFamily="49" charset="0"/>
              <a:cs typeface="Cascadia Code Light" pitchFamily="49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1000" y="2362200"/>
            <a:ext cx="8305800" cy="3763963"/>
          </a:xfrm>
        </p:spPr>
        <p:txBody>
          <a:bodyPr>
            <a:normAutofit fontScale="40000" lnSpcReduction="20000"/>
          </a:bodyPr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В следующей ячейке вам предлагается перевести изображение из одного цветового пространства в другое. Это выполняется с помощью функции 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cv2.cvtColor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.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В качестве аргументов передаётся:</a:t>
            </a:r>
          </a:p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Исходное изображение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— массив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NumPy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, который нужно преобразовать.</a:t>
            </a:r>
          </a:p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Код преобразования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— константа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OpenCV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, указывающая, из какого пространства в какое мы 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переходим.</a:t>
            </a:r>
          </a:p>
          <a:p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pPr>
              <a:buNone/>
            </a:pP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Самые 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популярные коды:</a:t>
            </a:r>
          </a:p>
          <a:p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cv2.COLOR_RGB2BGR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- Меняет 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местами красный и синий каналы (</a:t>
            </a:r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RGB → BGR</a:t>
            </a:r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)</a:t>
            </a:r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cv2.COLOR_BGR2RGB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- Обратное 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преобразование (</a:t>
            </a:r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BGR → RGB</a:t>
            </a:r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)</a:t>
            </a:r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cv2.COLOR_RGB2GRAY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- Переводит 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в оттенки серого (</a:t>
            </a:r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RGB → Grayscale</a:t>
            </a:r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)</a:t>
            </a:r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cv2.COLOR_BGR2GRAY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- То 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же, но из </a:t>
            </a:r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BGR</a:t>
            </a:r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cv2.COLOR_BGR2HSV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- Переводит 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в </a:t>
            </a:r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HSV (BGR → HSV</a:t>
            </a:r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)</a:t>
            </a:r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cv2.COLOR_RGB2HSV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- То 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же, но из </a:t>
            </a:r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RGB</a:t>
            </a:r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pPr>
              <a:buNone/>
            </a:pPr>
            <a:endParaRPr lang="ru-RU" b="1" dirty="0" smtClean="0">
              <a:latin typeface="Cascadia Code ExtraLight" pitchFamily="49" charset="0"/>
              <a:cs typeface="Cascadia Code ExtraLight" pitchFamily="49" charset="0"/>
            </a:endParaRPr>
          </a:p>
          <a:p>
            <a:pPr>
              <a:buNone/>
            </a:pP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Важно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: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код преобразования всегда указывает 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направление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: «из чего» → «во что». Если перепутать, результат будет неправильным.</a:t>
            </a:r>
          </a:p>
          <a:p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04800"/>
            <a:ext cx="9436100" cy="1654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0"/>
            <a:ext cx="8229600" cy="2514600"/>
          </a:xfrm>
        </p:spPr>
        <p:txBody>
          <a:bodyPr>
            <a:noAutofit/>
          </a:bodyPr>
          <a:lstStyle/>
          <a:p>
            <a:r>
              <a:rPr lang="ru-RU" sz="1400" dirty="0" smtClean="0">
                <a:latin typeface="Cascadia Code ExtraLight" pitchFamily="49" charset="0"/>
                <a:cs typeface="Cascadia Code ExtraLight" pitchFamily="49" charset="0"/>
              </a:rPr>
              <a:t>Эта ячейка также демонстрирует, что произойдёт, если не преобразовать изображение перед выводом через </a:t>
            </a:r>
            <a:r>
              <a:rPr lang="ru-RU" sz="1400" dirty="0" err="1" smtClean="0">
                <a:latin typeface="Cascadia Code ExtraLight" pitchFamily="49" charset="0"/>
                <a:cs typeface="Cascadia Code ExtraLight" pitchFamily="49" charset="0"/>
              </a:rPr>
              <a:t>matplotlib</a:t>
            </a:r>
            <a:r>
              <a:rPr lang="ru-RU" sz="1400" dirty="0" smtClean="0">
                <a:latin typeface="Cascadia Code ExtraLight" pitchFamily="49" charset="0"/>
                <a:cs typeface="Cascadia Code ExtraLight" pitchFamily="49" charset="0"/>
              </a:rPr>
              <a:t>.</a:t>
            </a:r>
          </a:p>
          <a:p>
            <a:r>
              <a:rPr lang="ru-RU" sz="1400" dirty="0" smtClean="0">
                <a:latin typeface="Cascadia Code ExtraLight" pitchFamily="49" charset="0"/>
                <a:cs typeface="Cascadia Code ExtraLight" pitchFamily="49" charset="0"/>
              </a:rPr>
              <a:t>Мы загрузили картинку через </a:t>
            </a:r>
            <a:r>
              <a:rPr lang="ru-RU" sz="1400" dirty="0" err="1" smtClean="0">
                <a:latin typeface="Cascadia Code ExtraLight" pitchFamily="49" charset="0"/>
                <a:cs typeface="Cascadia Code ExtraLight" pitchFamily="49" charset="0"/>
              </a:rPr>
              <a:t>skimage</a:t>
            </a:r>
            <a:r>
              <a:rPr lang="ru-RU" sz="1400" dirty="0" smtClean="0">
                <a:latin typeface="Cascadia Code ExtraLight" pitchFamily="49" charset="0"/>
                <a:cs typeface="Cascadia Code ExtraLight" pitchFamily="49" charset="0"/>
              </a:rPr>
              <a:t> — она в </a:t>
            </a:r>
            <a:r>
              <a:rPr lang="ru-RU" sz="1400" b="1" dirty="0" smtClean="0">
                <a:latin typeface="Cascadia Code ExtraLight" pitchFamily="49" charset="0"/>
                <a:cs typeface="Cascadia Code ExtraLight" pitchFamily="49" charset="0"/>
              </a:rPr>
              <a:t>RGB</a:t>
            </a:r>
            <a:r>
              <a:rPr lang="ru-RU" sz="1400" dirty="0" smtClean="0">
                <a:latin typeface="Cascadia Code ExtraLight" pitchFamily="49" charset="0"/>
                <a:cs typeface="Cascadia Code ExtraLight" pitchFamily="49" charset="0"/>
              </a:rPr>
              <a:t>. </a:t>
            </a:r>
            <a:r>
              <a:rPr lang="ru-RU" sz="1400" dirty="0" smtClean="0">
                <a:latin typeface="Cascadia Code ExtraLight" pitchFamily="49" charset="0"/>
                <a:cs typeface="Cascadia Code ExtraLight" pitchFamily="49" charset="0"/>
              </a:rPr>
              <a:t>Если применить cv2.cvtColor с кодом COLOR_RGB2BGR, каналы </a:t>
            </a:r>
            <a:r>
              <a:rPr lang="ru-RU" sz="1400" dirty="0" err="1" smtClean="0">
                <a:latin typeface="Cascadia Code ExtraLight" pitchFamily="49" charset="0"/>
                <a:cs typeface="Cascadia Code ExtraLight" pitchFamily="49" charset="0"/>
              </a:rPr>
              <a:t>переставятся</a:t>
            </a:r>
            <a:r>
              <a:rPr lang="ru-RU" sz="1400" dirty="0" smtClean="0">
                <a:latin typeface="Cascadia Code ExtraLight" pitchFamily="49" charset="0"/>
                <a:cs typeface="Cascadia Code ExtraLight" pitchFamily="49" charset="0"/>
              </a:rPr>
              <a:t>, и массив станет </a:t>
            </a:r>
            <a:r>
              <a:rPr lang="ru-RU" sz="1400" b="1" dirty="0" smtClean="0">
                <a:latin typeface="Cascadia Code ExtraLight" pitchFamily="49" charset="0"/>
                <a:cs typeface="Cascadia Code ExtraLight" pitchFamily="49" charset="0"/>
              </a:rPr>
              <a:t>BGR</a:t>
            </a:r>
            <a:r>
              <a:rPr lang="ru-RU" sz="1400" dirty="0" smtClean="0">
                <a:latin typeface="Cascadia Code ExtraLight" pitchFamily="49" charset="0"/>
                <a:cs typeface="Cascadia Code ExtraLight" pitchFamily="49" charset="0"/>
              </a:rPr>
              <a:t>.</a:t>
            </a:r>
            <a:endParaRPr lang="ru-RU" sz="1400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ru-RU" sz="1400" dirty="0" smtClean="0">
                <a:latin typeface="Cascadia Code ExtraLight" pitchFamily="49" charset="0"/>
                <a:cs typeface="Cascadia Code ExtraLight" pitchFamily="49" charset="0"/>
              </a:rPr>
              <a:t>А </a:t>
            </a:r>
            <a:r>
              <a:rPr lang="ru-RU" sz="1400" dirty="0" err="1" smtClean="0">
                <a:latin typeface="Cascadia Code ExtraLight" pitchFamily="49" charset="0"/>
                <a:cs typeface="Cascadia Code ExtraLight" pitchFamily="49" charset="0"/>
              </a:rPr>
              <a:t>plt.imshow</a:t>
            </a:r>
            <a:r>
              <a:rPr lang="ru-RU" sz="1400" dirty="0" smtClean="0">
                <a:latin typeface="Cascadia Code ExtraLight" pitchFamily="49" charset="0"/>
                <a:cs typeface="Cascadia Code ExtraLight" pitchFamily="49" charset="0"/>
              </a:rPr>
              <a:t> </a:t>
            </a:r>
            <a:r>
              <a:rPr lang="ru-RU" sz="1400" b="1" dirty="0" smtClean="0">
                <a:latin typeface="Cascadia Code ExtraLight" pitchFamily="49" charset="0"/>
                <a:cs typeface="Cascadia Code ExtraLight" pitchFamily="49" charset="0"/>
              </a:rPr>
              <a:t>всегда ожидает RGB</a:t>
            </a:r>
            <a:r>
              <a:rPr lang="ru-RU" sz="1400" dirty="0" smtClean="0">
                <a:latin typeface="Cascadia Code ExtraLight" pitchFamily="49" charset="0"/>
                <a:cs typeface="Cascadia Code ExtraLight" pitchFamily="49" charset="0"/>
              </a:rPr>
              <a:t>. Она не знает, что мы подсунули ей BGR, и честно интерпретирует первое число как «красный», второе — как «зелёный», третье — как «синий».</a:t>
            </a:r>
          </a:p>
          <a:p>
            <a:r>
              <a:rPr lang="ru-RU" sz="1400" b="1" dirty="0" smtClean="0">
                <a:latin typeface="Cascadia Code ExtraLight" pitchFamily="49" charset="0"/>
                <a:cs typeface="Cascadia Code ExtraLight" pitchFamily="49" charset="0"/>
              </a:rPr>
              <a:t>В результате:</a:t>
            </a:r>
            <a:endParaRPr lang="ru-RU" sz="1400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ru-RU" sz="1400" dirty="0" smtClean="0">
                <a:latin typeface="Cascadia Code ExtraLight" pitchFamily="49" charset="0"/>
                <a:cs typeface="Cascadia Code ExtraLight" pitchFamily="49" charset="0"/>
              </a:rPr>
              <a:t>Реальный красный канал (последний в BGR) читается как синий → рыжая кошка выглядит синей.</a:t>
            </a:r>
          </a:p>
          <a:p>
            <a:r>
              <a:rPr lang="ru-RU" sz="1400" dirty="0" smtClean="0">
                <a:latin typeface="Cascadia Code ExtraLight" pitchFamily="49" charset="0"/>
                <a:cs typeface="Cascadia Code ExtraLight" pitchFamily="49" charset="0"/>
              </a:rPr>
              <a:t>Реальный синий канал (первый в BGR) читается как </a:t>
            </a:r>
            <a:r>
              <a:rPr lang="ru-RU" sz="1400" dirty="0" smtClean="0">
                <a:latin typeface="Cascadia Code ExtraLight" pitchFamily="49" charset="0"/>
                <a:cs typeface="Cascadia Code ExtraLight" pitchFamily="49" charset="0"/>
              </a:rPr>
              <a:t>красный.</a:t>
            </a:r>
            <a:endParaRPr lang="ru-RU" sz="1400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ru-RU" sz="1400" b="1" dirty="0" smtClean="0">
                <a:latin typeface="Cascadia Code ExtraLight" pitchFamily="49" charset="0"/>
                <a:cs typeface="Cascadia Code ExtraLight" pitchFamily="49" charset="0"/>
              </a:rPr>
              <a:t>Чтобы избежать ошибки</a:t>
            </a:r>
            <a:r>
              <a:rPr lang="ru-RU" sz="1400" dirty="0" smtClean="0">
                <a:latin typeface="Cascadia Code ExtraLight" pitchFamily="49" charset="0"/>
                <a:cs typeface="Cascadia Code ExtraLight" pitchFamily="49" charset="0"/>
              </a:rPr>
              <a:t>, перед выводом через </a:t>
            </a:r>
            <a:r>
              <a:rPr lang="ru-RU" sz="1400" dirty="0" err="1" smtClean="0">
                <a:latin typeface="Cascadia Code ExtraLight" pitchFamily="49" charset="0"/>
                <a:cs typeface="Cascadia Code ExtraLight" pitchFamily="49" charset="0"/>
              </a:rPr>
              <a:t>plt.imshow</a:t>
            </a:r>
            <a:r>
              <a:rPr lang="ru-RU" sz="1400" dirty="0" smtClean="0">
                <a:latin typeface="Cascadia Code ExtraLight" pitchFamily="49" charset="0"/>
                <a:cs typeface="Cascadia Code ExtraLight" pitchFamily="49" charset="0"/>
              </a:rPr>
              <a:t> нужно конвертировать изображение обратно:</a:t>
            </a:r>
          </a:p>
          <a:p>
            <a:r>
              <a:rPr lang="ru-RU" sz="1400" dirty="0" err="1" smtClean="0">
                <a:latin typeface="Cascadia Code ExtraLight" pitchFamily="49" charset="0"/>
                <a:cs typeface="Cascadia Code ExtraLight" pitchFamily="49" charset="0"/>
              </a:rPr>
              <a:t>img_rgb_back</a:t>
            </a:r>
            <a:r>
              <a:rPr lang="ru-RU" sz="1400" dirty="0" smtClean="0">
                <a:latin typeface="Cascadia Code ExtraLight" pitchFamily="49" charset="0"/>
                <a:cs typeface="Cascadia Code ExtraLight" pitchFamily="49" charset="0"/>
              </a:rPr>
              <a:t> </a:t>
            </a:r>
            <a:r>
              <a:rPr lang="ru-RU" sz="1400" dirty="0" smtClean="0">
                <a:latin typeface="Cascadia Code ExtraLight" pitchFamily="49" charset="0"/>
                <a:cs typeface="Cascadia Code ExtraLight" pitchFamily="49" charset="0"/>
              </a:rPr>
              <a:t>= cv2.cvtColor(</a:t>
            </a:r>
            <a:r>
              <a:rPr lang="ru-RU" sz="1400" dirty="0" err="1" smtClean="0">
                <a:latin typeface="Cascadia Code ExtraLight" pitchFamily="49" charset="0"/>
                <a:cs typeface="Cascadia Code ExtraLight" pitchFamily="49" charset="0"/>
              </a:rPr>
              <a:t>img_bgr</a:t>
            </a:r>
            <a:r>
              <a:rPr lang="ru-RU" sz="1400" dirty="0" smtClean="0">
                <a:latin typeface="Cascadia Code ExtraLight" pitchFamily="49" charset="0"/>
                <a:cs typeface="Cascadia Code ExtraLight" pitchFamily="49" charset="0"/>
              </a:rPr>
              <a:t>, cv2.COLOR_BGR2RGB</a:t>
            </a:r>
            <a:r>
              <a:rPr lang="ru-RU" sz="1400" dirty="0" smtClean="0">
                <a:latin typeface="Cascadia Code ExtraLight" pitchFamily="49" charset="0"/>
                <a:cs typeface="Cascadia Code ExtraLight" pitchFamily="49" charset="0"/>
              </a:rPr>
              <a:t>)</a:t>
            </a:r>
          </a:p>
          <a:p>
            <a:r>
              <a:rPr lang="ru-RU" sz="1400" dirty="0" smtClean="0">
                <a:latin typeface="Cascadia Code ExtraLight" pitchFamily="49" charset="0"/>
                <a:cs typeface="Cascadia Code ExtraLight" pitchFamily="49" charset="0"/>
              </a:rPr>
              <a:t> </a:t>
            </a:r>
            <a:r>
              <a:rPr lang="ru-RU" sz="1400" dirty="0" err="1" smtClean="0">
                <a:latin typeface="Cascadia Code ExtraLight" pitchFamily="49" charset="0"/>
                <a:cs typeface="Cascadia Code ExtraLight" pitchFamily="49" charset="0"/>
              </a:rPr>
              <a:t>plt.imshow</a:t>
            </a:r>
            <a:r>
              <a:rPr lang="ru-RU" sz="1400" dirty="0" smtClean="0">
                <a:latin typeface="Cascadia Code ExtraLight" pitchFamily="49" charset="0"/>
                <a:cs typeface="Cascadia Code ExtraLight" pitchFamily="49" charset="0"/>
              </a:rPr>
              <a:t>(</a:t>
            </a:r>
            <a:r>
              <a:rPr lang="ru-RU" sz="1400" dirty="0" err="1" smtClean="0">
                <a:latin typeface="Cascadia Code ExtraLight" pitchFamily="49" charset="0"/>
                <a:cs typeface="Cascadia Code ExtraLight" pitchFamily="49" charset="0"/>
              </a:rPr>
              <a:t>img_rgb_back</a:t>
            </a:r>
            <a:r>
              <a:rPr lang="ru-RU" sz="1400" dirty="0" smtClean="0">
                <a:latin typeface="Cascadia Code ExtraLight" pitchFamily="49" charset="0"/>
                <a:cs typeface="Cascadia Code ExtraLight" pitchFamily="49" charset="0"/>
              </a:rPr>
              <a:t>)</a:t>
            </a:r>
            <a:endParaRPr lang="ru-RU" sz="1400" dirty="0">
              <a:latin typeface="Cascadia Code ExtraLight" pitchFamily="49" charset="0"/>
              <a:cs typeface="Cascadia Code ExtraLight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0" y="3810000"/>
            <a:ext cx="4389898" cy="2502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52400" y="228601"/>
            <a:ext cx="8686800" cy="2971800"/>
          </a:xfrm>
        </p:spPr>
        <p:txBody>
          <a:bodyPr>
            <a:normAutofit/>
          </a:bodyPr>
          <a:lstStyle/>
          <a:p>
            <a:r>
              <a:rPr lang="ru-RU" sz="2800" dirty="0" smtClean="0">
                <a:latin typeface="Cascadia Code ExtraLight" pitchFamily="49" charset="0"/>
                <a:cs typeface="Cascadia Code ExtraLight" pitchFamily="49" charset="0"/>
              </a:rPr>
              <a:t>Следующая ячейка демонстрирует пример перевода загруженного в </a:t>
            </a:r>
            <a:r>
              <a:rPr lang="ru-RU" sz="2800" b="1" dirty="0" smtClean="0">
                <a:latin typeface="Cascadia Code ExtraLight" pitchFamily="49" charset="0"/>
                <a:cs typeface="Cascadia Code ExtraLight" pitchFamily="49" charset="0"/>
              </a:rPr>
              <a:t>RGB изображения в оттенки серого и отображение этой картинки средствами библиотеки </a:t>
            </a:r>
            <a:r>
              <a:rPr lang="en-US" sz="2800" dirty="0" err="1" smtClean="0">
                <a:latin typeface="Cascadia Code ExtraLight" pitchFamily="49" charset="0"/>
                <a:cs typeface="Cascadia Code ExtraLight" pitchFamily="49" charset="0"/>
              </a:rPr>
              <a:t>matplotlib</a:t>
            </a:r>
            <a:r>
              <a:rPr lang="en-US" sz="2800" b="1" dirty="0" smtClean="0">
                <a:latin typeface="Cascadia Code ExtraLight" pitchFamily="49" charset="0"/>
                <a:cs typeface="Cascadia Code ExtraLight" pitchFamily="49" charset="0"/>
              </a:rPr>
              <a:t>.</a:t>
            </a:r>
            <a:endParaRPr lang="ru-RU" sz="2800" dirty="0">
              <a:latin typeface="Cascadia Code ExtraLight" pitchFamily="49" charset="0"/>
              <a:cs typeface="Cascadia Code ExtraLight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2800" y="2057400"/>
            <a:ext cx="5022284" cy="4245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 descr="https://sun9-59.vkuserphoto.ru/s/v1/ig2/7vN93G7K7clihYDeeooSLz3pH-ST9Qb_DOzJGbAv4aQ5KXM5o_GO_q7jAKE64uc4Aql71SW4yuJPA4lz4ELcNhe1.jpg?quality=95&amp;as=32x32,48x48,72x72,108x108,160x160,240x240,360x360,480x480,540x540,640x640,720x720,736x736&amp;from=bu&amp;u=xiFR2K6HvGmMgVyZZtcX83NVB8TCu25Q4LicA0xrEX4&amp;cs=736x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28600" y="-152400"/>
            <a:ext cx="9372600" cy="7696201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228600" y="0"/>
            <a:ext cx="2514600" cy="1066800"/>
          </a:xfrm>
        </p:spPr>
        <p:txBody>
          <a:bodyPr>
            <a:noAutofit/>
          </a:bodyPr>
          <a:lstStyle/>
          <a:p>
            <a:r>
              <a:rPr lang="ru-RU" sz="1800" b="1" dirty="0" smtClean="0">
                <a:solidFill>
                  <a:schemeClr val="bg1"/>
                </a:solidFill>
                <a:latin typeface="Cascadia Code ExtraLight" pitchFamily="49" charset="0"/>
                <a:cs typeface="Cascadia Code ExtraLight" pitchFamily="49" charset="0"/>
              </a:rPr>
              <a:t>Осталось </a:t>
            </a:r>
            <a:r>
              <a:rPr lang="ru-RU" sz="1800" b="1" dirty="0" err="1" smtClean="0">
                <a:solidFill>
                  <a:schemeClr val="bg1"/>
                </a:solidFill>
                <a:latin typeface="Cascadia Code ExtraLight" pitchFamily="49" charset="0"/>
                <a:cs typeface="Cascadia Code ExtraLight" pitchFamily="49" charset="0"/>
              </a:rPr>
              <a:t>чу-чуть</a:t>
            </a:r>
            <a:r>
              <a:rPr lang="ru-RU" sz="1800" b="1" dirty="0" smtClean="0">
                <a:solidFill>
                  <a:schemeClr val="bg1"/>
                </a:solidFill>
                <a:latin typeface="Cascadia Code ExtraLight" pitchFamily="49" charset="0"/>
                <a:cs typeface="Cascadia Code ExtraLight" pitchFamily="49" charset="0"/>
              </a:rPr>
              <a:t>! Последний блок!</a:t>
            </a:r>
            <a:r>
              <a:rPr lang="ru-RU" sz="1800" b="1" dirty="0" smtClean="0">
                <a:latin typeface="Cascadia Code ExtraLight" pitchFamily="49" charset="0"/>
                <a:cs typeface="Cascadia Code ExtraLight" pitchFamily="49" charset="0"/>
              </a:rPr>
              <a:t/>
            </a:r>
            <a:br>
              <a:rPr lang="ru-RU" sz="1800" b="1" dirty="0" smtClean="0">
                <a:latin typeface="Cascadia Code ExtraLight" pitchFamily="49" charset="0"/>
                <a:cs typeface="Cascadia Code ExtraLight" pitchFamily="49" charset="0"/>
              </a:rPr>
            </a:br>
            <a:endParaRPr lang="ru-RU" sz="1800" b="1" dirty="0">
              <a:solidFill>
                <a:schemeClr val="bg1"/>
              </a:solidFill>
              <a:latin typeface="Cascadia Code ExtraLight" pitchFamily="49" charset="0"/>
              <a:cs typeface="Cascadia Code Extra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Цветовые маски</a:t>
            </a: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09600" y="1371600"/>
            <a:ext cx="8077200" cy="4754563"/>
          </a:xfrm>
        </p:spPr>
        <p:txBody>
          <a:bodyPr>
            <a:normAutofit fontScale="55000" lnSpcReduction="20000"/>
          </a:bodyPr>
          <a:lstStyle/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Цветовая маска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— это инструмент для одной из основных задач компьютерного зрения: </a:t>
            </a:r>
            <a:r>
              <a:rPr lang="ru-RU" b="1" dirty="0" err="1" smtClean="0">
                <a:latin typeface="Cascadia Code ExtraLight" pitchFamily="49" charset="0"/>
                <a:cs typeface="Cascadia Code ExtraLight" pitchFamily="49" charset="0"/>
              </a:rPr>
              <a:t>детекции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 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объекта, т.е. его обнаружения на изображении.  В данном случае по цвету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. </a:t>
            </a:r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Как это работает:</a:t>
            </a:r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Задаём 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диапазон цвета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искомого объекта (обычно в пространстве HSV, потому что там цвет отделён от яркости).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Программа просматривает 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каждый пиксель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изображения.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Если все каналы пикселя попадают в заданный диапазон — пиксель считается «подходящим» (предположительно принадлежит объекту).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В изображении, которое мы получаем после применения маски такой 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пиксель становится 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белым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, остальные — 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чёрными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.</a:t>
            </a:r>
          </a:p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Результат: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чёрно-белое изображение, где белые области — это объекты нужного цвета. По такой маске объект найти гораздо проще: можно наложить её на оригинал, найти контуры или вычислить ограничивающий прямоугольник.</a:t>
            </a:r>
          </a:p>
          <a:p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Пример поиска объекта красного цвета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5867400"/>
            <a:ext cx="7391400" cy="990600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Реализуем!</a:t>
            </a: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905000"/>
            <a:ext cx="6992234" cy="3698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3400" y="2590800"/>
            <a:ext cx="8153400" cy="3535363"/>
          </a:xfrm>
        </p:spPr>
        <p:txBody>
          <a:bodyPr/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В первой ячейке данного блока происходит импорт библиотек. Все они уже нам знакомы)</a:t>
            </a: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pic>
        <p:nvPicPr>
          <p:cNvPr id="921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8462" y="457200"/>
            <a:ext cx="8745538" cy="1850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1000" y="381001"/>
            <a:ext cx="8305800" cy="1828800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Загружаем изображение с астронавтом из модуля </a:t>
            </a:r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data, 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импортированного из библиотеки </a:t>
            </a:r>
            <a:r>
              <a:rPr lang="en-US" dirty="0" err="1" smtClean="0">
                <a:latin typeface="Cascadia Code ExtraLight" pitchFamily="49" charset="0"/>
                <a:cs typeface="Cascadia Code ExtraLight" pitchFamily="49" charset="0"/>
              </a:rPr>
              <a:t>skimage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в первой ячейке</a:t>
            </a: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pic>
        <p:nvPicPr>
          <p:cNvPr id="93187" name="Picture 3"/>
          <p:cNvPicPr>
            <a:picLocks noChangeAspect="1" noChangeArrowheads="1"/>
          </p:cNvPicPr>
          <p:nvPr/>
        </p:nvPicPr>
        <p:blipFill>
          <a:blip r:embed="rId2" cstate="print"/>
          <a:srcRect b="46154"/>
          <a:stretch>
            <a:fillRect/>
          </a:stretch>
        </p:blipFill>
        <p:spPr bwMode="auto">
          <a:xfrm>
            <a:off x="381000" y="2057400"/>
            <a:ext cx="7726329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457200" y="3048000"/>
            <a:ext cx="7848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latin typeface="Cascadia Code ExtraLight" pitchFamily="49" charset="0"/>
                <a:cs typeface="Cascadia Code ExtraLight" pitchFamily="49" charset="0"/>
              </a:rPr>
              <a:t>Далее пишем строчку кода для перевода изображения из пространства </a:t>
            </a:r>
            <a:r>
              <a:rPr lang="en-US" sz="2400" dirty="0" smtClean="0">
                <a:latin typeface="Cascadia Code ExtraLight" pitchFamily="49" charset="0"/>
                <a:cs typeface="Cascadia Code ExtraLight" pitchFamily="49" charset="0"/>
              </a:rPr>
              <a:t>RGB</a:t>
            </a:r>
            <a:r>
              <a:rPr lang="ru-RU" sz="2400" dirty="0" smtClean="0">
                <a:latin typeface="Cascadia Code ExtraLight" pitchFamily="49" charset="0"/>
                <a:cs typeface="Cascadia Code ExtraLight" pitchFamily="49" charset="0"/>
              </a:rPr>
              <a:t>, в котором оно загрузилось из </a:t>
            </a:r>
            <a:r>
              <a:rPr lang="en-US" sz="2400" dirty="0" smtClean="0">
                <a:latin typeface="Cascadia Code ExtraLight" pitchFamily="49" charset="0"/>
                <a:cs typeface="Cascadia Code ExtraLight" pitchFamily="49" charset="0"/>
              </a:rPr>
              <a:t>data</a:t>
            </a:r>
            <a:r>
              <a:rPr lang="ru-RU" sz="2400" dirty="0" smtClean="0">
                <a:latin typeface="Cascadia Code ExtraLight" pitchFamily="49" charset="0"/>
                <a:cs typeface="Cascadia Code ExtraLight" pitchFamily="49" charset="0"/>
              </a:rPr>
              <a:t> в </a:t>
            </a:r>
            <a:r>
              <a:rPr lang="en-US" sz="2400" dirty="0" smtClean="0">
                <a:latin typeface="Cascadia Code ExtraLight" pitchFamily="49" charset="0"/>
                <a:cs typeface="Cascadia Code ExtraLight" pitchFamily="49" charset="0"/>
              </a:rPr>
              <a:t>HSV</a:t>
            </a:r>
            <a:r>
              <a:rPr lang="ru-RU" sz="2400" dirty="0" smtClean="0">
                <a:latin typeface="Cascadia Code ExtraLight" pitchFamily="49" charset="0"/>
                <a:cs typeface="Cascadia Code ExtraLight" pitchFamily="49" charset="0"/>
              </a:rPr>
              <a:t>. В этом цветовом пространстве применять маски удобнее т.к. легче задать более точный диапазон. Результат (новое изображение, хранимое в виде массива </a:t>
            </a:r>
            <a:r>
              <a:rPr lang="en-US" sz="2400" dirty="0" err="1" smtClean="0">
                <a:latin typeface="Cascadia Code ExtraLight" pitchFamily="49" charset="0"/>
                <a:cs typeface="Cascadia Code ExtraLight" pitchFamily="49" charset="0"/>
              </a:rPr>
              <a:t>Numpy</a:t>
            </a:r>
            <a:r>
              <a:rPr lang="ru-RU" sz="2400" dirty="0" smtClean="0">
                <a:latin typeface="Cascadia Code ExtraLight" pitchFamily="49" charset="0"/>
                <a:cs typeface="Cascadia Code ExtraLight" pitchFamily="49" charset="0"/>
              </a:rPr>
              <a:t>) складываем в переменную </a:t>
            </a:r>
            <a:r>
              <a:rPr lang="en-US" sz="2400" dirty="0" err="1" smtClean="0">
                <a:latin typeface="Cascadia Code ExtraLight" pitchFamily="49" charset="0"/>
                <a:cs typeface="Cascadia Code ExtraLight" pitchFamily="49" charset="0"/>
              </a:rPr>
              <a:t>img_hsv</a:t>
            </a:r>
            <a:endParaRPr lang="ru-RU" sz="2400" dirty="0">
              <a:latin typeface="Cascadia Code ExtraLight" pitchFamily="49" charset="0"/>
              <a:cs typeface="Cascadia Code ExtraLight" pitchFamily="49" charset="0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 cstate="print"/>
          <a:srcRect t="73077" r="-986"/>
          <a:stretch>
            <a:fillRect/>
          </a:stretch>
        </p:blipFill>
        <p:spPr bwMode="auto">
          <a:xfrm>
            <a:off x="381000" y="6172200"/>
            <a:ext cx="7802529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04800" y="304801"/>
            <a:ext cx="8382000" cy="3505200"/>
          </a:xfrm>
        </p:spPr>
        <p:txBody>
          <a:bodyPr>
            <a:normAutofit fontScale="40000" lnSpcReduction="20000"/>
          </a:bodyPr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В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OpenCV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значение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Hue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(тон) меняется от 0 до 180. Это «круг», где: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0 — начало круга,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180 — конец круга,</a:t>
            </a:r>
          </a:p>
          <a:p>
            <a:pPr>
              <a:buNone/>
            </a:pP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но 180 и 0 — это одно и то же место (красный цвет).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Красный цвет 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сидит 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ровно на стыке: часть его оттенков попадает в начало шкалы (0–10), а часть — в конец (170–180). Если задать только один диапазон [0, 10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] или [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170, 180] 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, 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мы потеряем половину красных оттенков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.</a:t>
            </a:r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Поэтому красный всегда описывается двумя парами границ, которые потом объединяются.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Почему S ≥ 100 и V ≥ 100: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S ≥ 100 — отсекаем бледные, сероватые оттенки. Если насыщенность ниже 100, цвет уже не красный, а розовато-серый.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V ≥ 100 — отсекаем слишком тёмные пиксели. Если яркость ниже 100, цвет почти чёрный, и мы не хотим, чтобы такие пиксели попадали в маску.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Эти пороги можно подстраивать: например, если объект освещён плохо, стоит понизить V до 50. Если наоборот — изображение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пересвечено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, можно поднять нижнюю границу S.</a:t>
            </a: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pic>
        <p:nvPicPr>
          <p:cNvPr id="942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657600"/>
            <a:ext cx="8229600" cy="2330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457200" y="5934670"/>
            <a:ext cx="8001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Этот блок 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готовит «фильтр» для поиска красного цвета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на изображении. Он ещё ничего не ищет — он только 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описывает, что считать красным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.</a:t>
            </a: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28600" y="228601"/>
            <a:ext cx="8534400" cy="3352800"/>
          </a:xfrm>
        </p:spPr>
        <p:txBody>
          <a:bodyPr>
            <a:normAutofit fontScale="40000" lnSpcReduction="20000"/>
          </a:bodyPr>
          <a:lstStyle/>
          <a:p>
            <a:r>
              <a:rPr lang="ru-RU" dirty="0" smtClean="0">
                <a:latin typeface="Cascadia Mono Light" pitchFamily="49" charset="0"/>
                <a:cs typeface="Cascadia Mono Light" pitchFamily="49" charset="0"/>
              </a:rPr>
              <a:t>Как мы знаем маска задается диапазоном значений цвета: верхняя и нижняя граница. В программе это реализуется через функцию </a:t>
            </a:r>
            <a:r>
              <a:rPr lang="en-US" dirty="0" err="1" smtClean="0">
                <a:latin typeface="Cascadia Mono Light" pitchFamily="49" charset="0"/>
                <a:cs typeface="Cascadia Mono Light" pitchFamily="49" charset="0"/>
              </a:rPr>
              <a:t>inRange</a:t>
            </a:r>
            <a:r>
              <a:rPr lang="ru-RU" dirty="0" smtClean="0">
                <a:latin typeface="Cascadia Mono Light" pitchFamily="49" charset="0"/>
                <a:cs typeface="Cascadia Mono Light" pitchFamily="49" charset="0"/>
              </a:rPr>
              <a:t> </a:t>
            </a:r>
            <a:r>
              <a:rPr lang="ru-RU" dirty="0" smtClean="0">
                <a:latin typeface="Cascadia Mono Light" pitchFamily="49" charset="0"/>
                <a:cs typeface="Cascadia Mono Light" pitchFamily="49" charset="0"/>
              </a:rPr>
              <a:t>библиотеки </a:t>
            </a:r>
            <a:r>
              <a:rPr lang="en-US" dirty="0" smtClean="0">
                <a:latin typeface="Cascadia Mono Light" pitchFamily="49" charset="0"/>
                <a:cs typeface="Cascadia Mono Light" pitchFamily="49" charset="0"/>
              </a:rPr>
              <a:t>cv2.</a:t>
            </a:r>
            <a:r>
              <a:rPr lang="ru-RU" dirty="0" smtClean="0">
                <a:latin typeface="Cascadia Mono Light" pitchFamily="49" charset="0"/>
                <a:cs typeface="Cascadia Mono Light" pitchFamily="49" charset="0"/>
              </a:rPr>
              <a:t> В качестве аргументов мы передаем название переменной, которая хранит нужное изображение в виде массива </a:t>
            </a:r>
            <a:r>
              <a:rPr lang="en-US" dirty="0" err="1" smtClean="0">
                <a:latin typeface="Cascadia Mono Light" pitchFamily="49" charset="0"/>
                <a:cs typeface="Cascadia Mono Light" pitchFamily="49" charset="0"/>
              </a:rPr>
              <a:t>Numpy</a:t>
            </a:r>
            <a:r>
              <a:rPr lang="ru-RU" dirty="0" smtClean="0">
                <a:latin typeface="Cascadia Mono Light" pitchFamily="49" charset="0"/>
                <a:cs typeface="Cascadia Mono Light" pitchFamily="49" charset="0"/>
              </a:rPr>
              <a:t>, массив, задающий нижнюю границу, массив, задающий верхнюю границу – 3 параметра.</a:t>
            </a:r>
            <a:endParaRPr lang="en-US" dirty="0" smtClean="0">
              <a:latin typeface="Cascadia Mono Light" pitchFamily="49" charset="0"/>
              <a:cs typeface="Cascadia Mono Light" pitchFamily="49" charset="0"/>
            </a:endParaRPr>
          </a:p>
          <a:p>
            <a:endParaRPr lang="ru-RU" dirty="0" smtClean="0">
              <a:latin typeface="Cascadia Mono Light" pitchFamily="49" charset="0"/>
              <a:cs typeface="Cascadia Mono Light" pitchFamily="49" charset="0"/>
            </a:endParaRPr>
          </a:p>
          <a:p>
            <a:r>
              <a:rPr lang="ru-RU" dirty="0" smtClean="0">
                <a:latin typeface="Cascadia Mono Light" pitchFamily="49" charset="0"/>
                <a:cs typeface="Cascadia Mono Light" pitchFamily="49" charset="0"/>
              </a:rPr>
              <a:t>Как мы выяснили ранее красный состоит из двух диапазонов. Нам нужно объединить их, спрятав в одну маску. Т.к. нам нужно чтобы пиксель, предполагаемый красным, попадал в ОДИН ИЗ этих двух диапазонов, то можем привести аналогию операции логического или. После маски пиксель будет белым если попал ИЛИ в первый диапазон ИЛИ во второй. Такое объединение масок возможно через функцию </a:t>
            </a:r>
            <a:r>
              <a:rPr lang="en-US" dirty="0" err="1" smtClean="0">
                <a:latin typeface="Cascadia Mono Light" pitchFamily="49" charset="0"/>
                <a:cs typeface="Cascadia Mono Light" pitchFamily="49" charset="0"/>
              </a:rPr>
              <a:t>bitwise_or</a:t>
            </a:r>
            <a:r>
              <a:rPr lang="ru-RU" dirty="0" smtClean="0">
                <a:latin typeface="Cascadia Mono Light" pitchFamily="49" charset="0"/>
                <a:cs typeface="Cascadia Mono Light" pitchFamily="49" charset="0"/>
              </a:rPr>
              <a:t>, куда передаем обе маски. Итоговую маску складываем в переменную </a:t>
            </a:r>
            <a:r>
              <a:rPr lang="en-US" dirty="0" smtClean="0">
                <a:latin typeface="Cascadia Mono Light" pitchFamily="49" charset="0"/>
                <a:cs typeface="Cascadia Mono Light" pitchFamily="49" charset="0"/>
              </a:rPr>
              <a:t>mask.</a:t>
            </a:r>
            <a:r>
              <a:rPr lang="ru-RU" dirty="0" smtClean="0">
                <a:latin typeface="Cascadia Mono Light" pitchFamily="49" charset="0"/>
                <a:cs typeface="Cascadia Mono Light" pitchFamily="49" charset="0"/>
              </a:rPr>
              <a:t> Там хранится черно-белое изображение после применения маски.</a:t>
            </a:r>
            <a:endParaRPr lang="en-US" dirty="0" smtClean="0">
              <a:latin typeface="Cascadia Mono Light" pitchFamily="49" charset="0"/>
              <a:cs typeface="Cascadia Mono Light" pitchFamily="49" charset="0"/>
            </a:endParaRPr>
          </a:p>
          <a:p>
            <a:endParaRPr lang="ru-RU" dirty="0" smtClean="0">
              <a:latin typeface="Cascadia Mono Light" pitchFamily="49" charset="0"/>
              <a:cs typeface="Cascadia Mono Light" pitchFamily="49" charset="0"/>
            </a:endParaRPr>
          </a:p>
          <a:p>
            <a:r>
              <a:rPr lang="ru-RU" dirty="0" smtClean="0">
                <a:latin typeface="Cascadia Mono Light" pitchFamily="49" charset="0"/>
                <a:cs typeface="Cascadia Mono Light" pitchFamily="49" charset="0"/>
              </a:rPr>
              <a:t>Далее последним шагом – применение маски к изображению. За это отвечает  функция </a:t>
            </a:r>
            <a:r>
              <a:rPr lang="en-US" dirty="0" err="1" smtClean="0">
                <a:latin typeface="Cascadia Mono Light" pitchFamily="49" charset="0"/>
                <a:cs typeface="Cascadia Mono Light" pitchFamily="49" charset="0"/>
              </a:rPr>
              <a:t>bitwise_and</a:t>
            </a:r>
            <a:r>
              <a:rPr lang="en-US" dirty="0" smtClean="0">
                <a:latin typeface="Cascadia Mono Light" pitchFamily="49" charset="0"/>
                <a:cs typeface="Cascadia Mono Light" pitchFamily="49" charset="0"/>
              </a:rPr>
              <a:t>. </a:t>
            </a:r>
            <a:r>
              <a:rPr lang="ru-RU" dirty="0" smtClean="0">
                <a:latin typeface="Cascadia Mono Light" pitchFamily="49" charset="0"/>
                <a:cs typeface="Cascadia Mono Light" pitchFamily="49" charset="0"/>
              </a:rPr>
              <a:t>В качестве аргументов передаются имя изображения, (дважды.. Потому что потому что так надо) и потом маска</a:t>
            </a:r>
            <a:r>
              <a:rPr lang="en-US" dirty="0" smtClean="0">
                <a:latin typeface="Cascadia Mono Light" pitchFamily="49" charset="0"/>
                <a:cs typeface="Cascadia Mono Light" pitchFamily="49" charset="0"/>
              </a:rPr>
              <a:t>. </a:t>
            </a:r>
            <a:r>
              <a:rPr lang="ru-RU" dirty="0" smtClean="0">
                <a:latin typeface="Cascadia Mono Light" pitchFamily="49" charset="0"/>
                <a:cs typeface="Cascadia Mono Light" pitchFamily="49" charset="0"/>
              </a:rPr>
              <a:t>Результат </a:t>
            </a:r>
            <a:r>
              <a:rPr lang="ru-RU" dirty="0" smtClean="0">
                <a:latin typeface="Cascadia Mono Light" pitchFamily="49" charset="0"/>
                <a:cs typeface="Cascadia Mono Light" pitchFamily="49" charset="0"/>
              </a:rPr>
              <a:t>— цветное изображение, на котором видны только пиксели, попавшие в маску, остальное — чёрный фон. Сохраняем его в переменную </a:t>
            </a:r>
            <a:r>
              <a:rPr lang="ru-RU" dirty="0" err="1" smtClean="0">
                <a:latin typeface="Cascadia Mono Light" pitchFamily="49" charset="0"/>
                <a:cs typeface="Cascadia Mono Light" pitchFamily="49" charset="0"/>
              </a:rPr>
              <a:t>result</a:t>
            </a:r>
            <a:r>
              <a:rPr lang="ru-RU" dirty="0" smtClean="0">
                <a:latin typeface="Cascadia Mono Light" pitchFamily="49" charset="0"/>
                <a:cs typeface="Cascadia Mono Light" pitchFamily="49" charset="0"/>
              </a:rPr>
              <a:t>.</a:t>
            </a:r>
            <a:endParaRPr lang="ru-RU" dirty="0">
              <a:latin typeface="Cascadia Mono Light" pitchFamily="49" charset="0"/>
              <a:cs typeface="Cascadia Mono Light" pitchFamily="49" charset="0"/>
            </a:endParaRPr>
          </a:p>
        </p:txBody>
      </p:sp>
      <p:pic>
        <p:nvPicPr>
          <p:cNvPr id="9523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3505200"/>
            <a:ext cx="740313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52400" y="152401"/>
            <a:ext cx="8763000" cy="2971800"/>
          </a:xfrm>
        </p:spPr>
        <p:txBody>
          <a:bodyPr>
            <a:noAutofit/>
          </a:bodyPr>
          <a:lstStyle/>
          <a:p>
            <a:r>
              <a:rPr lang="ru-RU" sz="1600" dirty="0" smtClean="0">
                <a:latin typeface="Cascadia Mono Light" pitchFamily="49" charset="0"/>
                <a:cs typeface="Cascadia Mono Light" pitchFamily="49" charset="0"/>
              </a:rPr>
              <a:t>Последняя ячейка </a:t>
            </a:r>
            <a:r>
              <a:rPr lang="ru-RU" sz="1600" b="1" dirty="0" smtClean="0">
                <a:latin typeface="Cascadia Mono Light" pitchFamily="49" charset="0"/>
                <a:cs typeface="Cascadia Mono Light" pitchFamily="49" charset="0"/>
              </a:rPr>
              <a:t>не требует дописывания кода</a:t>
            </a:r>
            <a:r>
              <a:rPr lang="ru-RU" sz="1600" dirty="0" smtClean="0">
                <a:latin typeface="Cascadia Mono Light" pitchFamily="49" charset="0"/>
                <a:cs typeface="Cascadia Mono Light" pitchFamily="49" charset="0"/>
              </a:rPr>
              <a:t> — она нужна только для визуализации. Мы выводим </a:t>
            </a:r>
            <a:r>
              <a:rPr lang="ru-RU" sz="1600" b="1" dirty="0" smtClean="0">
                <a:latin typeface="Cascadia Mono Light" pitchFamily="49" charset="0"/>
                <a:cs typeface="Cascadia Mono Light" pitchFamily="49" charset="0"/>
              </a:rPr>
              <a:t>три изображения рядом</a:t>
            </a:r>
            <a:r>
              <a:rPr lang="ru-RU" sz="1600" dirty="0" smtClean="0">
                <a:latin typeface="Cascadia Mono Light" pitchFamily="49" charset="0"/>
                <a:cs typeface="Cascadia Mono Light" pitchFamily="49" charset="0"/>
              </a:rPr>
              <a:t>, чтобы наглядно увидеть весь путь обработки:</a:t>
            </a:r>
          </a:p>
          <a:p>
            <a:r>
              <a:rPr lang="ru-RU" sz="1600" b="1" dirty="0" smtClean="0">
                <a:latin typeface="Cascadia Mono Light" pitchFamily="49" charset="0"/>
                <a:cs typeface="Cascadia Mono Light" pitchFamily="49" charset="0"/>
              </a:rPr>
              <a:t>Оригинал</a:t>
            </a:r>
            <a:r>
              <a:rPr lang="ru-RU" sz="1600" dirty="0" smtClean="0">
                <a:latin typeface="Cascadia Mono Light" pitchFamily="49" charset="0"/>
                <a:cs typeface="Cascadia Mono Light" pitchFamily="49" charset="0"/>
              </a:rPr>
              <a:t> — исходное изображение астронавта.</a:t>
            </a:r>
          </a:p>
          <a:p>
            <a:r>
              <a:rPr lang="ru-RU" sz="1600" b="1" dirty="0" smtClean="0">
                <a:latin typeface="Cascadia Mono Light" pitchFamily="49" charset="0"/>
                <a:cs typeface="Cascadia Mono Light" pitchFamily="49" charset="0"/>
              </a:rPr>
              <a:t>Маска</a:t>
            </a:r>
            <a:r>
              <a:rPr lang="ru-RU" sz="1600" dirty="0" smtClean="0">
                <a:latin typeface="Cascadia Mono Light" pitchFamily="49" charset="0"/>
                <a:cs typeface="Cascadia Mono Light" pitchFamily="49" charset="0"/>
              </a:rPr>
              <a:t> — чёрно-белое изображение, где белым выделены пиксели, попавшие в диапазон красного, а чёрным — все остальные.</a:t>
            </a:r>
          </a:p>
          <a:p>
            <a:r>
              <a:rPr lang="ru-RU" sz="1600" b="1" dirty="0" smtClean="0">
                <a:latin typeface="Cascadia Mono Light" pitchFamily="49" charset="0"/>
                <a:cs typeface="Cascadia Mono Light" pitchFamily="49" charset="0"/>
              </a:rPr>
              <a:t>Результат</a:t>
            </a:r>
            <a:r>
              <a:rPr lang="ru-RU" sz="1600" dirty="0" smtClean="0">
                <a:latin typeface="Cascadia Mono Light" pitchFamily="49" charset="0"/>
                <a:cs typeface="Cascadia Mono Light" pitchFamily="49" charset="0"/>
              </a:rPr>
              <a:t> — оригинал, к которому применена маска: видны только пиксели, соответствующие красному цвету, остальное — чёрный фон.</a:t>
            </a:r>
          </a:p>
          <a:p>
            <a:r>
              <a:rPr lang="ru-RU" sz="1600" dirty="0" smtClean="0">
                <a:latin typeface="Cascadia Mono Light" pitchFamily="49" charset="0"/>
                <a:cs typeface="Cascadia Mono Light" pitchFamily="49" charset="0"/>
              </a:rPr>
              <a:t>Сравнивая три картинки, мы видим, что маска точно указывает, где на оригинале находится красный скафандр, а результат показывает, как выглядит изображение после «вырезания» по этой маске.</a:t>
            </a:r>
            <a:endParaRPr lang="ru-RU" sz="1600" dirty="0">
              <a:latin typeface="Cascadia Mono Light" pitchFamily="49" charset="0"/>
              <a:cs typeface="Cascadia Mono Light" pitchFamily="49" charset="0"/>
            </a:endParaRPr>
          </a:p>
        </p:txBody>
      </p:sp>
      <p:pic>
        <p:nvPicPr>
          <p:cNvPr id="962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3276600"/>
            <a:ext cx="6404253" cy="309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2" descr="https://sun9-6.vkuserphoto.ru/s/v1/ig2/EMeGd78SfXV-Axdo7hhLsGEe8nIkYXib1nffXmghnhLIfbqeKjFx0x0HCvPLdFe6m6dFKOzBdKkn7h7rJvXsHx19.jpg?quality=95&amp;as=32x36,48x54,72x81,108x122,160x180,240x270,360x405,480x541,540x608,640x721,720x811,736x829&amp;from=bu&amp;u=Fdi12KXULDrIPzCD2fKTOgvi_68nEOlphlpRVcX1Yvw&amp;cs=736x0"/>
          <p:cNvPicPr>
            <a:picLocks noChangeAspect="1" noChangeArrowheads="1"/>
          </p:cNvPicPr>
          <p:nvPr/>
        </p:nvPicPr>
        <p:blipFill>
          <a:blip r:embed="rId2" cstate="print"/>
          <a:srcRect t="22765" r="855" b="8942"/>
          <a:stretch>
            <a:fillRect/>
          </a:stretch>
        </p:blipFill>
        <p:spPr bwMode="auto">
          <a:xfrm>
            <a:off x="0" y="-1"/>
            <a:ext cx="9144000" cy="709448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 descr="https://sun9-5.vkuserphoto.ru/s/v1/ig2/hQpEqzpG7SPW4muYFX_D5qfpIHEWrg4Uf2gKbTsYjvtpUMMmDk0xwQQRX_n9bcyxnA_w39jDDMD4WPLeIwaW-v6K.jpg?quality=95&amp;as=32x39,48x58,72x87,108x130,160x193,240x289,360x433,480x578,540x650,640x770,720x867,736x886&amp;from=bu&amp;cs=736x0"/>
          <p:cNvPicPr>
            <a:picLocks noChangeAspect="1" noChangeArrowheads="1"/>
          </p:cNvPicPr>
          <p:nvPr/>
        </p:nvPicPr>
        <p:blipFill>
          <a:blip r:embed="rId2" cstate="print"/>
          <a:srcRect l="19621" t="30757" r="4430" b="2192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33800" y="5562600"/>
            <a:ext cx="6172200" cy="990600"/>
          </a:xfrm>
        </p:spPr>
        <p:txBody>
          <a:bodyPr>
            <a:normAutofit fontScale="90000"/>
          </a:bodyPr>
          <a:lstStyle/>
          <a:p>
            <a:r>
              <a:rPr lang="en-US" sz="3600" dirty="0" smtClean="0">
                <a:solidFill>
                  <a:schemeClr val="bg1"/>
                </a:solidFill>
                <a:latin typeface="Cascadia Code SemiLight" pitchFamily="49" charset="0"/>
                <a:cs typeface="Cascadia Code SemiLight" pitchFamily="49" charset="0"/>
              </a:rPr>
              <a:t>Thanks for your attention!)</a:t>
            </a:r>
            <a:endParaRPr lang="ru-RU" dirty="0">
              <a:solidFill>
                <a:schemeClr val="bg1"/>
              </a:solidFill>
              <a:latin typeface="Cascadia Code SemiLight" pitchFamily="49" charset="0"/>
              <a:cs typeface="Cascadia Code SemiLight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942</TotalTime>
  <Words>5034</Words>
  <Application>Microsoft Office PowerPoint</Application>
  <PresentationFormat>Экран (4:3)</PresentationFormat>
  <Paragraphs>454</Paragraphs>
  <Slides>72</Slides>
  <Notes>11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72</vt:i4>
      </vt:variant>
    </vt:vector>
  </HeadingPairs>
  <TitlesOfParts>
    <vt:vector size="73" baseType="lpstr">
      <vt:lpstr>Office Theme</vt:lpstr>
      <vt:lpstr>Занятие 1. Пиксель → цвет → нейрон Как машина учится видеть </vt:lpstr>
      <vt:lpstr>Орг моменты </vt:lpstr>
      <vt:lpstr>План занятия</vt:lpstr>
      <vt:lpstr>Что такое этот ваш МЛ?..</vt:lpstr>
      <vt:lpstr>Искусственный нейрон Что же учится в машине?</vt:lpstr>
      <vt:lpstr>Слайд 6</vt:lpstr>
      <vt:lpstr>Слайд 7</vt:lpstr>
      <vt:lpstr>Нейронная сеть</vt:lpstr>
      <vt:lpstr>Функции активации</vt:lpstr>
      <vt:lpstr>Ступенчатая функция</vt:lpstr>
      <vt:lpstr>Sigmoid</vt:lpstr>
      <vt:lpstr>Tanh</vt:lpstr>
      <vt:lpstr>ReLu</vt:lpstr>
      <vt:lpstr>Softmax</vt:lpstr>
      <vt:lpstr>КОДИМ! </vt:lpstr>
      <vt:lpstr>Разбор кода в Google Collab</vt:lpstr>
      <vt:lpstr>БЛОК 1. Нейрон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  <vt:lpstr>Слайд 25</vt:lpstr>
      <vt:lpstr>Слайд 26</vt:lpstr>
      <vt:lpstr>Слайд 27</vt:lpstr>
      <vt:lpstr>Как компьютер работает с изображениями?</vt:lpstr>
      <vt:lpstr>OpenCV Снова кодить…</vt:lpstr>
      <vt:lpstr>Первая ячейка — установка библиотеки OpenCV  </vt:lpstr>
      <vt:lpstr>Вторая ячейка — импорт библиотек  </vt:lpstr>
      <vt:lpstr>Загрузка изображения</vt:lpstr>
      <vt:lpstr>Слайд 33</vt:lpstr>
      <vt:lpstr>Слайд 34</vt:lpstr>
      <vt:lpstr>Слайд 35</vt:lpstr>
      <vt:lpstr>Слайд 36</vt:lpstr>
      <vt:lpstr>Слайд 37</vt:lpstr>
      <vt:lpstr>Слайд 38</vt:lpstr>
      <vt:lpstr>Слайд 39</vt:lpstr>
      <vt:lpstr>Слайд 40</vt:lpstr>
      <vt:lpstr>Аугментация</vt:lpstr>
      <vt:lpstr>Отражение по горизонтали и вертикали</vt:lpstr>
      <vt:lpstr>Слайд 43</vt:lpstr>
      <vt:lpstr>Поворот на 90°, 180°, 270°</vt:lpstr>
      <vt:lpstr>Слайд 45</vt:lpstr>
      <vt:lpstr>Масштабирование: сжатие и увеличение</vt:lpstr>
      <vt:lpstr>Масштабирование: сжатие и увеличение</vt:lpstr>
      <vt:lpstr>Методы</vt:lpstr>
      <vt:lpstr>Слайд 49</vt:lpstr>
      <vt:lpstr>Слайд 50</vt:lpstr>
      <vt:lpstr>Обрезка</vt:lpstr>
      <vt:lpstr>Слайд 52</vt:lpstr>
      <vt:lpstr>Цветовые пространства</vt:lpstr>
      <vt:lpstr>Слайд 54</vt:lpstr>
      <vt:lpstr>Пространство HSV</vt:lpstr>
      <vt:lpstr>Слайд 56</vt:lpstr>
      <vt:lpstr>Слайд 57</vt:lpstr>
      <vt:lpstr>Слайд 58</vt:lpstr>
      <vt:lpstr>Зачем менять цветовое пространство </vt:lpstr>
      <vt:lpstr>Слайд 60</vt:lpstr>
      <vt:lpstr>Слайд 61</vt:lpstr>
      <vt:lpstr>Слайд 62</vt:lpstr>
      <vt:lpstr>Осталось чу-чуть! Последний блок! </vt:lpstr>
      <vt:lpstr>Цветовые маски</vt:lpstr>
      <vt:lpstr>Пример поиска объекта красного цвета</vt:lpstr>
      <vt:lpstr>Слайд 66</vt:lpstr>
      <vt:lpstr>Слайд 67</vt:lpstr>
      <vt:lpstr>Слайд 68</vt:lpstr>
      <vt:lpstr>Слайд 69</vt:lpstr>
      <vt:lpstr>Слайд 70</vt:lpstr>
      <vt:lpstr>Слайд 71</vt:lpstr>
      <vt:lpstr>Thanks for your attention!)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Занятие 1. Пиксель → цвет → нейрон: как машина учится видеть</dc:title>
  <dc:creator>Вера Пономаренко</dc:creator>
  <cp:lastModifiedBy>Вера Пономаренко</cp:lastModifiedBy>
  <cp:revision>89</cp:revision>
  <dcterms:created xsi:type="dcterms:W3CDTF">2026-09-19T16:29:54Z</dcterms:created>
  <dcterms:modified xsi:type="dcterms:W3CDTF">2026-09-23T16:38:18Z</dcterms:modified>
</cp:coreProperties>
</file>