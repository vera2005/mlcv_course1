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72" r:id="rId5"/>
    <p:sldId id="259" r:id="rId6"/>
    <p:sldId id="269" r:id="rId7"/>
    <p:sldId id="273" r:id="rId8"/>
    <p:sldId id="274" r:id="rId9"/>
    <p:sldId id="282" r:id="rId10"/>
    <p:sldId id="275" r:id="rId11"/>
    <p:sldId id="281" r:id="rId12"/>
    <p:sldId id="277" r:id="rId13"/>
    <p:sldId id="278" r:id="rId14"/>
    <p:sldId id="279" r:id="rId15"/>
    <p:sldId id="280" r:id="rId16"/>
    <p:sldId id="276" r:id="rId17"/>
    <p:sldId id="261" r:id="rId18"/>
    <p:sldId id="284" r:id="rId19"/>
    <p:sldId id="262" r:id="rId20"/>
    <p:sldId id="289" r:id="rId21"/>
    <p:sldId id="287" r:id="rId22"/>
    <p:sldId id="290" r:id="rId23"/>
    <p:sldId id="288" r:id="rId24"/>
    <p:sldId id="292" r:id="rId25"/>
    <p:sldId id="271" r:id="rId26"/>
    <p:sldId id="286" r:id="rId27"/>
    <p:sldId id="285" r:id="rId28"/>
  </p:sldIdLst>
  <p:sldSz cx="9144000" cy="6858000" type="screen4x3"/>
  <p:notesSz cx="6858000" cy="9144000"/>
  <p:defaultTextStyle>
    <a:defPPr>
      <a:defRPr lang="en-US"/>
    </a:defPPr>
    <a:lvl1pPr marL="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latinLnBrk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619" autoAdjust="0"/>
    <p:restoredTop sz="94660"/>
  </p:normalViewPr>
  <p:slideViewPr>
    <p:cSldViewPr>
      <p:cViewPr>
        <p:scale>
          <a:sx n="66" d="100"/>
          <a:sy n="66" d="100"/>
        </p:scale>
        <p:origin x="-420" y="-9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5B534F-630C-4377-BBDB-FD85678AC1B8}" type="datetimeFigureOut">
              <a:rPr lang="ru-RU" smtClean="0"/>
              <a:t>21.09.2026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7F7C4F-69CD-4118-AF6B-8FD37CB16838}" type="slidenum">
              <a:rPr lang="ru-RU" smtClean="0"/>
              <a:t>‹#›</a:t>
            </a:fld>
            <a:endParaRPr lang="ru-R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ru-RU" dirty="0" smtClean="0"/>
              <a:t>Вес - </a:t>
            </a:r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t>6</a:t>
            </a:fld>
            <a:endParaRPr lang="ru-RU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67F7C4F-69CD-4118-AF6B-8FD37CB16838}" type="slidenum">
              <a:rPr lang="ru-RU" smtClean="0"/>
              <a:t>8</a:t>
            </a:fld>
            <a:endParaRPr lang="ru-RU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add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AF463A-BC7C-46EE-9F1E-7F377CCA4891}" type="datetimeFigureOut">
              <a:rPr lang="en-US" smtClean="0"/>
              <a:pPr/>
              <a:t>9/21/2026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83448D-3A78-4528-A469-B745A65DA480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latinLnBrk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latinLnBrk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latinLnBrk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latinLnBrk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latinLnBrk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latinLnBrk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latinLnBrk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latinLnBrk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eg"/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30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jpeg"/><Relationship Id="rId2" Type="http://schemas.openxmlformats.org/officeDocument/2006/relationships/image" Target="../media/image32.jpe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jpe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5105400" y="1981200"/>
            <a:ext cx="3581400" cy="2057399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Занятие 1.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Пиксель → цвет →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нейрон</a:t>
            </a:r>
            <a:b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Как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машина учится видеть</a:t>
            </a:r>
            <a:b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5181600" y="5334000"/>
            <a:ext cx="3962400" cy="1524000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Мастерские МИЦ. 10 сезон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Основы машинного обучения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Занятие 1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Пономаренко Вера</a:t>
            </a:r>
          </a:p>
          <a:p>
            <a:endParaRPr lang="ru-RU" dirty="0" smtClean="0"/>
          </a:p>
        </p:txBody>
      </p:sp>
      <p:pic>
        <p:nvPicPr>
          <p:cNvPr id="18434" name="Picture 2" descr="https://sun9-6.vkuserphoto.ru/s/v1/ig2/7rNUT8SjcrqYRzXxolL6AFksiyd8dUiR5-ox5YeikqjzKdu6Yf56PBLQfmmRR5Zj2UM9VaGvOhqEaHATG3lBLRPq.jpg?quality=95&amp;as=32x39,48x58,72x88,108x132,160x195,240x292,360x439,480x585,540x658,640x780,720x877,736x897&amp;from=bu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990600"/>
            <a:ext cx="4626708" cy="5638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Орг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моменты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" y="1066801"/>
            <a:ext cx="4800600" cy="1066800"/>
          </a:xfrm>
        </p:spPr>
        <p:txBody>
          <a:bodyPr>
            <a:normAutofit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Группа в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тг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:</a:t>
            </a:r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 smtClean="0"/>
          </a:p>
          <a:p>
            <a:endParaRPr lang="ru-RU" dirty="0"/>
          </a:p>
        </p:txBody>
      </p:sp>
      <p:pic>
        <p:nvPicPr>
          <p:cNvPr id="4" name="Picture 2" descr="https://sun9-15.vkuserphoto.ru/s/v1/ig2/ehzmgbAZGEsfcsP57Q4LXVnaXsxNyXJCv9C1xpivxmeyNdfhpyuyWdENVOwqkx99uLQaK7bqG-pV_YD7HotXjWdy.jpg?quality=95&amp;as=32x32,48x48,72x72,108x108,160x160,240x240,360x360,480x480,540x540,640x640,720x720,786x786&amp;from=bu&amp;u=1hbTleU5KOlzCf3XrHfXg5gcfbB1dCZ1svJ_cuyLWbA&amp;cs=78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81000" y="1905000"/>
            <a:ext cx="4038600" cy="4038600"/>
          </a:xfrm>
          <a:prstGeom prst="rect">
            <a:avLst/>
          </a:prstGeom>
          <a:noFill/>
        </p:spPr>
      </p:pic>
      <p:sp>
        <p:nvSpPr>
          <p:cNvPr id="5" name="Прямоугольник 4"/>
          <p:cNvSpPr/>
          <p:nvPr/>
        </p:nvSpPr>
        <p:spPr>
          <a:xfrm>
            <a:off x="4800600" y="1600201"/>
            <a:ext cx="43434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Структура курса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: </a:t>
            </a:r>
            <a:endParaRPr lang="ru-RU" sz="2400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8 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занятий 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+</a:t>
            </a:r>
          </a:p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8 </a:t>
            </a:r>
            <a:r>
              <a:rPr lang="ru-RU" sz="2400" dirty="0" err="1" smtClean="0">
                <a:latin typeface="Cascadia Code SemiLight" pitchFamily="49" charset="0"/>
                <a:cs typeface="Cascadia Code SemiLight" pitchFamily="49" charset="0"/>
              </a:rPr>
              <a:t>дз</a:t>
            </a: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endParaRPr lang="ru-RU" sz="2400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проект + защита</a:t>
            </a:r>
            <a:endParaRPr lang="ru-RU" sz="2400" dirty="0" smtClean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17410" name="Picture 2" descr="https://sun9-28.vkuserphoto.ru/s/v1/ig2/MSW-vl4QfYH2nzQ_h_UpgsIpf4N60SajxR6NwjuZOtcBEQQ6zQMkoNDvOlHyajg_0D4xeF4HyiI21S8TeHIUe8CW.jpg?quality=95&amp;as=32x33,48x50,72x75,108x112,160x166,240x249,360x374,480x498,540x561,552x573&amp;from=bu&amp;u=atRv-BW6J7MRROzmO3OnaYWJPujGJ7ALQ05vsojl5Xk&amp;cs=552x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953000" y="3276600"/>
            <a:ext cx="3104518" cy="32226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План занятия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600200"/>
            <a:ext cx="4572000" cy="4571999"/>
          </a:xfrm>
        </p:spPr>
        <p:txBody>
          <a:bodyPr>
            <a:normAutofit fontScale="850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Основные понятия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ML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Нейрон: веса, смещение, функция активации. </a:t>
            </a:r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Изображение как данные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Цветовые пространства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Базовые инструменты </a:t>
            </a:r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OpenCV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Поиск объекта по цвету</a:t>
            </a:r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16388" name="Picture 4" descr="https://sun9-50.vkuserphoto.ru/s/v1/ig2/zrHLEO2JA1gmfzWktkboHADCTxl8wUcqlz-kVWua1ckSiFZeZsFau65fxCDCSrQzNk0-zPPYuIBWb6hRsYEAb9WM.jpg?quality=95&amp;as=32x35,48x52,72x78,108x117,160x174,240x261,360x391,479x520&amp;from=bu&amp;cs=479x0"/>
          <p:cNvPicPr>
            <a:picLocks noChangeAspect="1" noChangeArrowheads="1"/>
          </p:cNvPicPr>
          <p:nvPr/>
        </p:nvPicPr>
        <p:blipFill>
          <a:blip r:embed="rId2" cstate="print"/>
          <a:srcRect l="1461" b="12308"/>
          <a:stretch>
            <a:fillRect/>
          </a:stretch>
        </p:blipFill>
        <p:spPr bwMode="auto">
          <a:xfrm>
            <a:off x="4953000" y="1676400"/>
            <a:ext cx="3943684" cy="3810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4" name="Picture 4" descr="https://sun9-23.vkuserphoto.ru/s/v1/ig2/9DNSzBjwEk9dF0Ye2AxuQWWrGqfblycQiYyjr0m4HnEkldpdGvy52hsdGI_BZYorOGtJeYzPjyTOXHzBnalWG3Uo.jpg?quality=95&amp;as=32x57,48x85,72x128,108x192,160x284,240x427,360x640,480x853,540x960,640x1137,720x1280,736x1308&amp;from=bu&amp;cs=736x0"/>
          <p:cNvPicPr>
            <a:picLocks noChangeAspect="1" noChangeArrowheads="1"/>
          </p:cNvPicPr>
          <p:nvPr/>
        </p:nvPicPr>
        <p:blipFill>
          <a:blip r:embed="rId2" cstate="print"/>
          <a:srcRect r="56522" b="41284"/>
          <a:stretch>
            <a:fillRect/>
          </a:stretch>
        </p:blipFill>
        <p:spPr bwMode="auto">
          <a:xfrm>
            <a:off x="6096000" y="0"/>
            <a:ext cx="3048000" cy="7315200"/>
          </a:xfrm>
          <a:prstGeom prst="rect">
            <a:avLst/>
          </a:prstGeom>
          <a:noFill/>
        </p:spPr>
      </p:pic>
      <p:pic>
        <p:nvPicPr>
          <p:cNvPr id="5122" name="Picture 2" descr="https://sun9-23.vkuserphoto.ru/s/v1/ig2/9DNSzBjwEk9dF0Ye2AxuQWWrGqfblycQiYyjr0m4HnEkldpdGvy52hsdGI_BZYorOGtJeYzPjyTOXHzBnalWG3Uo.jpg?quality=95&amp;as=32x57,48x85,72x128,108x192,160x284,240x427,360x640,480x853,540x960,640x1137,720x1280,736x1308&amp;from=bu&amp;cs=736x0"/>
          <p:cNvPicPr>
            <a:picLocks noChangeAspect="1" noChangeArrowheads="1"/>
          </p:cNvPicPr>
          <p:nvPr/>
        </p:nvPicPr>
        <p:blipFill>
          <a:blip r:embed="rId2" cstate="print"/>
          <a:srcRect t="40069" r="2086"/>
          <a:stretch>
            <a:fillRect/>
          </a:stretch>
        </p:blipFill>
        <p:spPr bwMode="auto">
          <a:xfrm>
            <a:off x="0" y="0"/>
            <a:ext cx="6705600" cy="729401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524000" y="-228600"/>
            <a:ext cx="5715000" cy="990600"/>
          </a:xfrm>
        </p:spPr>
        <p:txBody>
          <a:bodyPr>
            <a:normAutofit/>
          </a:bodyPr>
          <a:lstStyle/>
          <a:p>
            <a:r>
              <a:rPr lang="ru-RU" dirty="0" err="1" smtClean="0">
                <a:solidFill>
                  <a:schemeClr val="bg1"/>
                </a:solidFill>
                <a:latin typeface="Bahnschrift SemiLight Condensed" pitchFamily="34" charset="0"/>
              </a:rPr>
              <a:t>Мотивейшен</a:t>
            </a:r>
            <a:endParaRPr lang="ru-RU" dirty="0">
              <a:solidFill>
                <a:schemeClr val="bg1"/>
              </a:solidFill>
              <a:latin typeface="Bahnschrift SemiLight Condensed" pitchFamily="34" charset="0"/>
            </a:endParaRPr>
          </a:p>
        </p:txBody>
      </p:sp>
      <p:pic>
        <p:nvPicPr>
          <p:cNvPr id="1536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34000" y="228600"/>
            <a:ext cx="3505200" cy="26272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1536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715000" y="4191000"/>
            <a:ext cx="3252788" cy="234881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40" name="Picture 4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 rot="16200000">
            <a:off x="1601542" y="-382342"/>
            <a:ext cx="5788517" cy="8381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Что такое этот ваш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МЛ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?..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14338" name="Picture 2" descr="https://sun9-58.vkuserphoto.ru/s/v1/ig2/F7HLBgZFEO8ddfHNo0aMD5DyHxpJhFOotH4eXod2PsDEqS0QDAekjaqgeRaUiveY9txUtliapuleoCulm4SKW4TE.jpg?quality=95&amp;as=32x31,48x47,72x71,108x106,160x157,240x235,360x353,480x471,540x530,640x628,720x706,735x721&amp;from=bu&amp;cs=735x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629400" y="2971800"/>
            <a:ext cx="2068496" cy="2029096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Искусственный нейрон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Что же учится в машине?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85800" y="5380037"/>
            <a:ext cx="7924800" cy="1477963"/>
          </a:xfrm>
        </p:spPr>
        <p:txBody>
          <a:bodyPr/>
          <a:lstStyle/>
          <a:p>
            <a:endParaRPr lang="ru-RU" dirty="0" smtClean="0"/>
          </a:p>
        </p:txBody>
      </p:sp>
      <p:pic>
        <p:nvPicPr>
          <p:cNvPr id="13313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04800" y="1447800"/>
            <a:ext cx="8458200" cy="517109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3277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0"/>
            <a:ext cx="7056582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  <p:pic>
        <p:nvPicPr>
          <p:cNvPr id="33795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66800" y="0"/>
            <a:ext cx="7286420" cy="5867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37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43200" y="5181600"/>
            <a:ext cx="3484914" cy="1905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/>
              <a:t>Нейронная сеть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/>
          </a:p>
        </p:txBody>
      </p:sp>
      <p:pic>
        <p:nvPicPr>
          <p:cNvPr id="4" name="Picture 2" descr="https://sun9-14.userapi.com/s/v1/ig2/tVHu_ddbW-sfGbCa0SAr8-pdNeRI8a5ehmypVxRFq0GPWU879PX3vy24FywLgrLYz6OFuh9mUS1C7pfTWnh0awAk.jpg?quality=95&amp;as=32x22,48x32,72x49,108x73,160x108,240x162,360x244,480x325,540x365,640x433,720x487,1080x731,1280x866,1440x974,1933x1308&amp;from=bu&amp;u=Qib1uoRtiy12xjpY_n6F2dXJSF_zcQOFugKzu1HudhU&amp;cs=1933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990600" y="1295400"/>
            <a:ext cx="7772400" cy="5259337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Функции активации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724400" y="1295400"/>
            <a:ext cx="3962400" cy="4830763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Без функции активации нейрон — это просто линейная функция: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output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=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w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·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x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+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b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А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композиция линейных функций — тоже линейная функция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 Это значит, что сколько бы нейронов мы ни соединяли в сеть, она всё равно останется линейной моделью и не сможет решать сложные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задачи</a:t>
            </a:r>
          </a:p>
          <a:p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Функция активации вносит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нелинейность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/>
          </a:p>
        </p:txBody>
      </p:sp>
      <p:pic>
        <p:nvPicPr>
          <p:cNvPr id="35842" name="Picture 2" descr="https://sun9-11.vkuserphoto.ru/s/v1/ig2/CDyaBIGPsY_45GZrLBlePibT3gwDlvNj3P_I55ihKVday3bQrOqrPmm7kKDY0ZEPlOJMM0lTY2uPcUMOIPtrhgWw.jpg?quality=95&amp;as=32x32,48x47,72x71,108x106,160x158,240x236,360x355,480x473,540x532,640x630,720x709,735x724&amp;from=bu&amp;cs=735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09600" y="1600200"/>
            <a:ext cx="4038600" cy="3978159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Ступенчатая функция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5334000" y="1600200"/>
            <a:ext cx="3352800" cy="4525963"/>
          </a:xfrm>
        </p:spPr>
        <p:txBody>
          <a:bodyPr>
            <a:noAutofit/>
          </a:bodyPr>
          <a:lstStyle/>
          <a:p>
            <a:pPr>
              <a:buNone/>
            </a:pP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1) Функция </a:t>
            </a: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А </a:t>
            </a: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 активирована, </a:t>
            </a: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если Y &gt; </a:t>
            </a: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граница, иначе </a:t>
            </a: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нет.</a:t>
            </a:r>
          </a:p>
          <a:p>
            <a:pPr>
              <a:buNone/>
            </a:pP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2) Не подходит для классификации многих классов</a:t>
            </a:r>
            <a:endParaRPr lang="ru-RU" sz="2000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39938" name="Picture 2" descr="ступенчатая функция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676400"/>
            <a:ext cx="4800600" cy="3604144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Sigmoid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Сигмоида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endParaRPr lang="ru-RU" dirty="0"/>
          </a:p>
        </p:txBody>
      </p:sp>
      <p:pic>
        <p:nvPicPr>
          <p:cNvPr id="4403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819400" y="1371600"/>
            <a:ext cx="3810000" cy="13811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57200" y="2590800"/>
            <a:ext cx="4648200" cy="29908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7" name="Прямоугольник 6"/>
          <p:cNvSpPr/>
          <p:nvPr/>
        </p:nvSpPr>
        <p:spPr>
          <a:xfrm>
            <a:off x="4724401" y="2895600"/>
            <a:ext cx="4191000" cy="37856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sz="2000" b="1" dirty="0" smtClean="0">
                <a:latin typeface="Cascadia Code SemiLight" pitchFamily="49" charset="0"/>
                <a:cs typeface="Cascadia Code SemiLight" pitchFamily="49" charset="0"/>
              </a:rPr>
              <a:t>1) Диапазон (0,1)</a:t>
            </a:r>
          </a:p>
          <a:p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2) Используется для выходного слоя бинарной классификации. </a:t>
            </a:r>
          </a:p>
          <a:p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3</a:t>
            </a: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) Интерпретируется как вероятность</a:t>
            </a:r>
          </a:p>
          <a:p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4</a:t>
            </a: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)Плавная и дифференцируемая</a:t>
            </a:r>
          </a:p>
          <a:p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5</a:t>
            </a: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) Минус: затухание градиента – при больших </a:t>
            </a:r>
            <a:r>
              <a:rPr lang="ru-RU" sz="2000" dirty="0" err="1" smtClean="0">
                <a:latin typeface="Cascadia Code SemiLight" pitchFamily="49" charset="0"/>
                <a:cs typeface="Cascadia Code SemiLight" pitchFamily="49" charset="0"/>
              </a:rPr>
              <a:t>х</a:t>
            </a:r>
            <a:r>
              <a:rPr lang="ru-RU" sz="2000" dirty="0" smtClean="0">
                <a:latin typeface="Cascadia Code SemiLight" pitchFamily="49" charset="0"/>
                <a:cs typeface="Cascadia Code SemiLight" pitchFamily="49" charset="0"/>
              </a:rPr>
              <a:t> производная близка к 0, сеть будет плохо обучаться</a:t>
            </a:r>
            <a:endParaRPr lang="ru-RU" sz="2000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Tanh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Гиперболический тангенс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4300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85800" y="2286000"/>
            <a:ext cx="5076825" cy="7715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43010" name="Picture 2"/>
          <p:cNvPicPr>
            <a:picLocks noChangeAspect="1" noChangeArrowheads="1"/>
          </p:cNvPicPr>
          <p:nvPr/>
        </p:nvPicPr>
        <p:blipFill>
          <a:blip r:embed="rId3" cstate="print"/>
          <a:srcRect l="1449" t="11308"/>
          <a:stretch>
            <a:fillRect/>
          </a:stretch>
        </p:blipFill>
        <p:spPr bwMode="auto">
          <a:xfrm>
            <a:off x="947928" y="2971800"/>
            <a:ext cx="4767072" cy="3505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Прямоугольник 5"/>
          <p:cNvSpPr/>
          <p:nvPr/>
        </p:nvSpPr>
        <p:spPr>
          <a:xfrm>
            <a:off x="5410200" y="3276600"/>
            <a:ext cx="35814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buAutoNum type="arabicParenR"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Диапазон (-1, 1)</a:t>
            </a:r>
          </a:p>
          <a:p>
            <a:pPr marL="342900" indent="-342900">
              <a:buAutoNum type="arabicParenR"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Используется, когда нужен центрированный выход</a:t>
            </a:r>
          </a:p>
          <a:p>
            <a:pPr marL="342900" indent="-342900">
              <a:buAutoNum type="arabicParenR"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Градиенты сильнее, чем у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сигмоиды</a:t>
            </a: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pPr marL="342900" indent="-342900">
              <a:buAutoNum type="arabicParenR"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Но все еще страдаем от затухания градиента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ReLu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A(x) = max(0,x)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41985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399" y="2438400"/>
            <a:ext cx="5148212" cy="2895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Прямоугольник 4"/>
          <p:cNvSpPr/>
          <p:nvPr/>
        </p:nvSpPr>
        <p:spPr>
          <a:xfrm>
            <a:off x="5410200" y="2286000"/>
            <a:ext cx="3429000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1) Диапазон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[0, </a:t>
            </a:r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inf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)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2) Используется в скрытых слоях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3) УРА! НЕТ затухания градиента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4) Быстрое вычисление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5) Минус: мертвые нейроны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Softmax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685800" y="4267200"/>
            <a:ext cx="8001000" cy="1858963"/>
          </a:xfrm>
        </p:spPr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1)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Диапазон: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(0, 1), сумма всех выходов = 1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2) Используется в выходном слое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многоклассовой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классификации (выдает вероятности для каждого класса)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3) Удобно интерпретировать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4) Минус: используется только для выходного слоя</a:t>
            </a:r>
          </a:p>
          <a:p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40961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47800" y="1371600"/>
            <a:ext cx="6586089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822" name="Picture 6" descr="https://sun9-74.vkuserphoto.ru/s/v1/ig2/nRdHdWxJd5tLelQP5eE1_-HjBSeGPKS2fyz7fQ3yAZOQoN1-UGl0N-mmV84gsMauacvuf1TI5MoEGyJfUo99QiW_.jpg?quality=95&amp;as=32x34,48x51,72x77,108x115,160x171,240x256,360x384,480x512,536x572&amp;from=bu&amp;cs=5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762000" y="685800"/>
            <a:ext cx="5005221" cy="5341393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267200" y="914400"/>
            <a:ext cx="5105400" cy="1371600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КОДИМ!</a:t>
            </a:r>
            <a:br>
              <a:rPr lang="ru-RU" dirty="0" smtClean="0">
                <a:latin typeface="Cascadia Code SemiLight" pitchFamily="49" charset="0"/>
                <a:cs typeface="Cascadia Code SemiLight" pitchFamily="49" charset="0"/>
              </a:rPr>
            </a:b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endParaRPr lang="ru-RU" dirty="0"/>
          </a:p>
        </p:txBody>
      </p:sp>
      <p:pic>
        <p:nvPicPr>
          <p:cNvPr id="34820" name="Picture 4" descr="https://sun9-9.vkuserphoto.ru/s/v1/ig2/Z_tbBpNhARs_UPWwsh1uLeDEaJp8mtQyXrl3UkychOrUSgNqlFT_7cmYC9nvBB8N0EdIvS1a26rrgZ5Xc96ppHkN.jpg?quality=95&amp;as=32x32,48x48,72x72,108x108,160x160,240x240,360x360,480x480,540x540,640x640,701x701&amp;from=bu&amp;cs=701x0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800600" y="2743200"/>
            <a:ext cx="3733800" cy="37338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304800" y="457200"/>
            <a:ext cx="8382000" cy="5668963"/>
          </a:xfrm>
        </p:spPr>
        <p:txBody>
          <a:bodyPr>
            <a:normAutofit/>
          </a:bodyPr>
          <a:lstStyle/>
          <a:p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Мы увидели, что в компьютере все – числа</a:t>
            </a:r>
            <a:b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sz="2400" dirty="0" smtClean="0">
                <a:latin typeface="Cascadia Code SemiLight" pitchFamily="49" charset="0"/>
                <a:cs typeface="Cascadia Code SemiLight" pitchFamily="49" charset="0"/>
              </a:rPr>
              <a:t>Как впихать картинку? </a:t>
            </a:r>
            <a:endParaRPr lang="ru-RU" sz="2400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11266" name="Picture 2" descr="https://sun9-24.vkuserphoto.ru/s/v1/ig2/AJ77QefPzdHoKe-61TYJScJoEMW3lGfcA_KiU1jfelHP-E0nwarHEXGnhN6bAkBN0EUnPKK05U-z80unyHSnsM8_.jpg?quality=95&amp;as=32x32,48x48,72x72,108x109,160x161,240x241,360x362,480x483,540x543,555x558&amp;from=bu&amp;cs=555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00200" y="1371600"/>
            <a:ext cx="5105400" cy="5132998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28600" y="274638"/>
            <a:ext cx="8458200" cy="563562"/>
          </a:xfrm>
        </p:spPr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Как компьютер работает с изображениями?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3073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676400" y="4061270"/>
            <a:ext cx="7216775" cy="264415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1219200"/>
            <a:ext cx="5257800" cy="267716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5486400" y="2971800"/>
            <a:ext cx="3657600" cy="884238"/>
          </a:xfrm>
        </p:spPr>
        <p:txBody>
          <a:bodyPr>
            <a:normAutofit fontScale="90000"/>
          </a:bodyPr>
          <a:lstStyle/>
          <a:p>
            <a:r>
              <a:rPr lang="en-US" dirty="0" err="1" smtClean="0">
                <a:latin typeface="Cascadia Code SemiLight" pitchFamily="49" charset="0"/>
                <a:cs typeface="Cascadia Code SemiLight" pitchFamily="49" charset="0"/>
              </a:rPr>
              <a:t>OpenCV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/>
            </a:r>
            <a:br>
              <a:rPr lang="en-US" dirty="0" smtClean="0">
                <a:latin typeface="Cascadia Code SemiLight" pitchFamily="49" charset="0"/>
                <a:cs typeface="Cascadia Code SemiLight" pitchFamily="49" charset="0"/>
              </a:rPr>
            </a:b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Снова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кодить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…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 smtClean="0"/>
          </a:p>
        </p:txBody>
      </p:sp>
      <p:pic>
        <p:nvPicPr>
          <p:cNvPr id="9218" name="Picture 2" descr="https://sun9-22.vkuserphoto.ru/s/v1/ig2/k1qrnR7dnFUPzTME7KvYOAabDIoUGSkUdHDbjSpgJHoc6y5FHjyJPTR7a5oJPd6391M6QDpiKllYM08pYXK-fydA.jpg?quality=95&amp;as=32x40,48x60,72x90,108x135,160x200,240x300,360x450,480x600,540x675,640x800,720x900,736x920&amp;from=bu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28600" y="152400"/>
            <a:ext cx="5181600" cy="6477002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Важно: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OpenCV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использует порядок BGR, а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skimage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— RGB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</a:p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Внутри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OpenCV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— BGR.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Внутри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matplotlib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/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skimage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— RGB.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Переходите из одной в другую — конвертируйте.</a:t>
            </a:r>
          </a:p>
          <a:p>
            <a:endParaRPr lang="en-US" dirty="0" smtClean="0"/>
          </a:p>
          <a:p>
            <a:endParaRPr lang="ru-RU" dirty="0" smtClean="0"/>
          </a:p>
          <a:p>
            <a:endParaRPr lang="ru-RU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Масштабирование: сжатие и увеличение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876800" y="2057400"/>
            <a:ext cx="3810000" cy="4495800"/>
          </a:xfrm>
        </p:spPr>
        <p:txBody>
          <a:bodyPr>
            <a:normAutofit fontScale="700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В cv2.resize() третий </a:t>
            </a:r>
            <a:r>
              <a:rPr lang="ru-RU" b="1" dirty="0" smtClean="0">
                <a:latin typeface="Cascadia Code SemiLight" pitchFamily="49" charset="0"/>
                <a:cs typeface="Cascadia Code SemiLight" pitchFamily="49" charset="0"/>
              </a:rPr>
              <a:t>аргумент (</a:t>
            </a:r>
            <a:r>
              <a:rPr lang="ru-RU" b="1" dirty="0" err="1" smtClean="0">
                <a:latin typeface="Cascadia Code SemiLight" pitchFamily="49" charset="0"/>
                <a:cs typeface="Cascadia Code SemiLight" pitchFamily="49" charset="0"/>
              </a:rPr>
              <a:t>interpolation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) определяет, как именно будут вычисляться новые пиксели. По сути, это правила, по которым программа «додумывает» цвета на новом изображении, основываясь на старом. Давайте разберем каждый метод.</a:t>
            </a:r>
          </a:p>
          <a:p>
            <a:endParaRPr lang="ru-RU" dirty="0"/>
          </a:p>
        </p:txBody>
      </p:sp>
      <p:pic>
        <p:nvPicPr>
          <p:cNvPr id="53250" name="Picture 2" descr="https://sun9-12.vkuserphoto.ru/s/v1/ig2/IrYEqhcw6GWTMj__7R84henk2lBttRALBL8tcrcijk8b87N9N2Y8GWVMSsdpZdmJzKGJdywPkZjyn05NT22G0jg8.jpg?quality=95&amp;as=32x32,48x48,72x72,108x108,160x160,240x240,360x360,480x480,540x540,640x640,720x720&amp;from=bu&amp;cs=720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828800"/>
            <a:ext cx="4190999" cy="4191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Методы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1)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INTER_LINEAR –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билинейная интерполяция (по умолчанию) </a:t>
            </a: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Суть: новый пиксель – взвешенное среднее четырех ближайших пикселей</a:t>
            </a:r>
          </a:p>
          <a:p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2)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INTER_AREA –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пересчет по площади (для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у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меньшения)</a:t>
            </a:r>
          </a:p>
          <a:p>
            <a:pPr>
              <a:buNone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Суть: при уменьшении новый пиксель покрывает собой область из старых пикселей, алгоритм вычисляет среднее взвешенное по этой области. </a:t>
            </a:r>
          </a:p>
          <a:p>
            <a:pPr>
              <a:buNone/>
            </a:pPr>
            <a:endParaRPr lang="ru-RU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3)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INTER_CUBIC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– бикубическая интерполяция (для увеличения)</a:t>
            </a:r>
          </a:p>
          <a:p>
            <a:pPr>
              <a:buNone/>
            </a:pP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Суть: для вычисления нового пикселя используется 16 ближайших соседей, а не 4. Учитывается не только расстояние, но и тренд изменения цвета.</a:t>
            </a:r>
          </a:p>
          <a:p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Цветовые пространства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457200" y="1295400"/>
            <a:ext cx="8229600" cy="4830763"/>
          </a:xfrm>
        </p:spPr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Смена цветового пространства позволяет избавиться от шумов.</a:t>
            </a:r>
          </a:p>
          <a:p>
            <a:r>
              <a:rPr lang="en-US" dirty="0" smtClean="0"/>
              <a:t>RGB – </a:t>
            </a:r>
            <a:r>
              <a:rPr lang="ru-RU" dirty="0" smtClean="0"/>
              <a:t>куб, цвет – координаты точки внутри куба</a:t>
            </a:r>
            <a:r>
              <a:rPr lang="ru-RU" dirty="0" smtClean="0"/>
              <a:t/>
            </a:r>
            <a:br>
              <a:rPr lang="ru-RU" dirty="0" smtClean="0"/>
            </a:br>
            <a:endParaRPr lang="ru-RU" dirty="0" smtClean="0"/>
          </a:p>
          <a:p>
            <a:endParaRPr lang="en-US" dirty="0" smtClean="0"/>
          </a:p>
          <a:p>
            <a:endParaRPr lang="ru-RU" dirty="0"/>
          </a:p>
        </p:txBody>
      </p:sp>
      <p:pic>
        <p:nvPicPr>
          <p:cNvPr id="52226" name="Picture 2" descr="https://sun9-44.vkuserphoto.ru/s/v1/ig2/dBxR87NcXiJwRaPnKB92wlAwNx9WAU44hl3PaqMDWrGjENY2ZOQl49LZrx8gOA5_obsVxbi9T8qwZvvSOT9VIhDh.jpg?quality=95&amp;as=32x32,48x48,72x72,108x108,160x160,240x240,360x360,480x480,540x540,640x640,720x720,1080x1080,1280x1280,1440x1440,2560x2560&amp;from=bu&amp;u=gGCiOyfcdWWHFtsq30jeS2dD1WlOKU3SpGFYp3knlpg&amp;cs=2560x0"/>
          <p:cNvPicPr>
            <a:picLocks noChangeAspect="1" noChangeArrowheads="1"/>
          </p:cNvPicPr>
          <p:nvPr/>
        </p:nvPicPr>
        <p:blipFill>
          <a:blip r:embed="rId2" cstate="print"/>
          <a:srcRect l="11224" t="19388" r="11225" b="20408"/>
          <a:stretch>
            <a:fillRect/>
          </a:stretch>
        </p:blipFill>
        <p:spPr bwMode="auto">
          <a:xfrm>
            <a:off x="304800" y="3657600"/>
            <a:ext cx="3657600" cy="2839452"/>
          </a:xfrm>
          <a:prstGeom prst="rect">
            <a:avLst/>
          </a:prstGeom>
          <a:noFill/>
        </p:spPr>
      </p:pic>
      <p:pic>
        <p:nvPicPr>
          <p:cNvPr id="52228" name="Picture 4" descr="https://sun9-40.vkuserphoto.ru/s/v1/ig2/173-XgOSIxUsz6Q-TP-nHXQBj0n4JvhkBgwXpR047rePb4lHpLGTpinbWpOqnI63UJhCfl2UnXX6miW9kknRcCbV.jpg?quality=95&amp;as=32x32,48x48,72x72,108x108,160x160,240x240,360x360,480x480,540x540,640x640,720x720,1080x1080,1280x1280,1440x1440,2560x2560&amp;from=bu&amp;cs=2560x0"/>
          <p:cNvPicPr>
            <a:picLocks noChangeAspect="1" noChangeArrowheads="1"/>
          </p:cNvPicPr>
          <p:nvPr/>
        </p:nvPicPr>
        <p:blipFill>
          <a:blip r:embed="rId3" cstate="print"/>
          <a:srcRect l="9333" t="22667" r="13333" b="24000"/>
          <a:stretch>
            <a:fillRect/>
          </a:stretch>
        </p:blipFill>
        <p:spPr bwMode="auto">
          <a:xfrm>
            <a:off x="4343400" y="3048000"/>
            <a:ext cx="4419600" cy="3048000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1143000"/>
          </a:xfrm>
        </p:spPr>
        <p:txBody>
          <a:bodyPr/>
          <a:lstStyle/>
          <a:p>
            <a:r>
              <a:rPr lang="ru-RU" dirty="0" smtClean="0"/>
              <a:t>Пространство </a:t>
            </a:r>
            <a:r>
              <a:rPr lang="en-US" dirty="0" smtClean="0"/>
              <a:t>HSV</a:t>
            </a:r>
            <a:endParaRPr lang="ru-RU" dirty="0"/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>
          <a:xfrm>
            <a:off x="228600" y="990600"/>
            <a:ext cx="8915400" cy="1828801"/>
          </a:xfrm>
        </p:spPr>
        <p:txBody>
          <a:bodyPr>
            <a:normAutofit fontScale="77500" lnSpcReduction="20000"/>
          </a:bodyPr>
          <a:lstStyle/>
          <a:p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Hue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– тон (цвет от 0 до 180)</a:t>
            </a:r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Saturation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– насыщенность (близость к белому, %)</a:t>
            </a:r>
            <a:endParaRPr lang="en-US" dirty="0" smtClean="0">
              <a:latin typeface="Cascadia Code SemiLight" pitchFamily="49" charset="0"/>
              <a:cs typeface="Cascadia Code SemiLight" pitchFamily="49" charset="0"/>
            </a:endParaRPr>
          </a:p>
          <a:p>
            <a:r>
              <a:rPr lang="en-US" dirty="0" smtClean="0">
                <a:latin typeface="Cascadia Code SemiLight" pitchFamily="49" charset="0"/>
                <a:cs typeface="Cascadia Code SemiLight" pitchFamily="49" charset="0"/>
              </a:rPr>
              <a:t>Value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 – яркость (чем меньше, тем темнее, %)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pic>
        <p:nvPicPr>
          <p:cNvPr id="55298" name="Picture 2" descr="https://sun9-43.vkuserphoto.ru/s/v1/ig2/JzziB_8jscjojPBlxsfCh9rvFgnaobw1uZAH2Xa59AdT0AH-WZrQ8uZwXoE1un8OrVVE_S7yAHH995CZzILjbfXV.jpg?quality=95&amp;as=32x32,48x48,72x72,108x108,160x160,240x240,360x360,480x480,540x540,640x640,720x720,1080x1080,1280x1280,1440x1440,2560x2560&amp;from=bu&amp;u=dfQR6Hy8iViVCle_NEwm5ACBDGRQGlE7YDOS9z9VzZA&amp;cs=2560x0"/>
          <p:cNvPicPr>
            <a:picLocks noChangeAspect="1" noChangeArrowheads="1"/>
          </p:cNvPicPr>
          <p:nvPr/>
        </p:nvPicPr>
        <p:blipFill>
          <a:blip r:embed="rId2" cstate="print"/>
          <a:srcRect l="8197" t="32787" r="13115" b="16393"/>
          <a:stretch>
            <a:fillRect/>
          </a:stretch>
        </p:blipFill>
        <p:spPr bwMode="auto">
          <a:xfrm>
            <a:off x="228600" y="2590800"/>
            <a:ext cx="4038600" cy="2608263"/>
          </a:xfrm>
          <a:prstGeom prst="rect">
            <a:avLst/>
          </a:prstGeom>
          <a:noFill/>
        </p:spPr>
      </p:pic>
      <p:pic>
        <p:nvPicPr>
          <p:cNvPr id="55300" name="Picture 4" descr="https://sun9-36.vkuserphoto.ru/s/v1/ig2/UIU8GpfWvM5hdhw91LxUamZu91GyrU7W5SSeGk2QdA02blDIcyppmv1gzbPBt4DdfTF4DSMQy_xIZQ0IC_ajY-VM.jpg?quality=95&amp;as=32x32,48x48,72x72,108x108,160x160,240x240,360x360,480x480,540x540,640x640,720x720,1080x1080,1280x1280,1440x1440,2560x2560&amp;from=bu&amp;cs=2560x0"/>
          <p:cNvPicPr>
            <a:picLocks noChangeAspect="1" noChangeArrowheads="1"/>
          </p:cNvPicPr>
          <p:nvPr/>
        </p:nvPicPr>
        <p:blipFill>
          <a:blip r:embed="rId3" cstate="print"/>
          <a:srcRect l="13043" t="45652" r="15217" b="4348"/>
          <a:stretch>
            <a:fillRect/>
          </a:stretch>
        </p:blipFill>
        <p:spPr bwMode="auto">
          <a:xfrm>
            <a:off x="4495800" y="2667000"/>
            <a:ext cx="4482548" cy="3124200"/>
          </a:xfrm>
          <a:prstGeom prst="rect">
            <a:avLst/>
          </a:prstGeom>
          <a:noFill/>
        </p:spPr>
      </p:pic>
      <p:sp>
        <p:nvSpPr>
          <p:cNvPr id="6" name="Прямоугольник 5"/>
          <p:cNvSpPr/>
          <p:nvPr/>
        </p:nvSpPr>
        <p:spPr>
          <a:xfrm>
            <a:off x="228600" y="5867400"/>
            <a:ext cx="8686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HSV 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удобнее RGB, потому что цвет (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Hue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) отделён от яркости (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Value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). Один и тот же красный при разном освещении даёт похожий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Hue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, но разный </a:t>
            </a:r>
            <a:r>
              <a:rPr lang="ru-RU" dirty="0" err="1" smtClean="0">
                <a:latin typeface="Cascadia Code SemiLight" pitchFamily="49" charset="0"/>
                <a:cs typeface="Cascadia Code SemiLight" pitchFamily="49" charset="0"/>
              </a:rPr>
              <a:t>Value</a:t>
            </a:r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.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 smtClean="0">
                <a:latin typeface="Cascadia Code SemiLight" pitchFamily="49" charset="0"/>
                <a:cs typeface="Cascadia Code SemiLight" pitchFamily="49" charset="0"/>
              </a:rPr>
              <a:t>Цветовые маски</a:t>
            </a:r>
            <a:endParaRPr lang="ru-RU" dirty="0"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u-RU" dirty="0"/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533400" y="1828800"/>
            <a:ext cx="8211434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https://sun9-59.vkuserphoto.ru/s/v1/ig2/7vN93G7K7clihYDeeooSLz3pH-ST9Qb_DOzJGbAv4aQ5KXM5o_GO_q7jAKE64uc4Aql71SW4yuJPA4lz4ELcNhe1.jpg?quality=95&amp;as=32x32,48x48,72x72,108x108,160x160,240x240,360x360,480x480,540x540,640x640,720x720,736x736&amp;from=bu&amp;u=xiFR2K6HvGmMgVyZZtcX83NVB8TCu25Q4LicA0xrEX4&amp;cs=736x0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-228600" y="-152400"/>
            <a:ext cx="9372600" cy="7696201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-1143000" y="-381000"/>
            <a:ext cx="5105400" cy="1417638"/>
          </a:xfrm>
        </p:spPr>
        <p:txBody>
          <a:bodyPr/>
          <a:lstStyle/>
          <a:p>
            <a:r>
              <a:rPr lang="ru-RU" dirty="0" err="1" smtClean="0">
                <a:solidFill>
                  <a:schemeClr val="bg1"/>
                </a:solidFill>
                <a:latin typeface="Cascadia Code SemiLight" pitchFamily="49" charset="0"/>
                <a:cs typeface="Cascadia Code SemiLight" pitchFamily="49" charset="0"/>
              </a:rPr>
              <a:t>ДЗ-шечка</a:t>
            </a:r>
            <a:endParaRPr lang="ru-RU" dirty="0">
              <a:solidFill>
                <a:schemeClr val="bg1"/>
              </a:solidFill>
              <a:latin typeface="Cascadia Code SemiLight" pitchFamily="49" charset="0"/>
              <a:cs typeface="Cascadia Code SemiLight" pitchFamily="49" charset="0"/>
            </a:endParaRPr>
          </a:p>
        </p:txBody>
      </p:sp>
      <p:sp>
        <p:nvSpPr>
          <p:cNvPr id="3" name="Содержимое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082" name="Picture 2" descr="https://sun9-5.vkuserphoto.ru/s/v1/ig2/hQpEqzpG7SPW4muYFX_D5qfpIHEWrg4Uf2gKbTsYjvtpUMMmDk0xwQQRX_n9bcyxnA_w39jDDMD4WPLeIwaW-v6K.jpg?quality=95&amp;as=32x39,48x58,72x87,108x130,160x193,240x289,360x433,480x578,540x650,640x770,720x867,736x886&amp;from=bu&amp;cs=736x0"/>
          <p:cNvPicPr>
            <a:picLocks noChangeAspect="1" noChangeArrowheads="1"/>
          </p:cNvPicPr>
          <p:nvPr/>
        </p:nvPicPr>
        <p:blipFill>
          <a:blip r:embed="rId2" cstate="print"/>
          <a:srcRect l="19621" t="30757" r="4430" b="21925"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</p:spPr>
      </p:pic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733800" y="5562600"/>
            <a:ext cx="6172200" cy="990600"/>
          </a:xfrm>
        </p:spPr>
        <p:txBody>
          <a:bodyPr>
            <a:normAutofit fontScale="90000"/>
          </a:bodyPr>
          <a:lstStyle/>
          <a:p>
            <a:r>
              <a:rPr lang="en-US" sz="3600" dirty="0" smtClean="0">
                <a:solidFill>
                  <a:schemeClr val="bg1"/>
                </a:solidFill>
                <a:latin typeface="Cascadia Code SemiLight" pitchFamily="49" charset="0"/>
                <a:cs typeface="Cascadia Code SemiLight" pitchFamily="49" charset="0"/>
              </a:rPr>
              <a:t>Thanks for your attention!)</a:t>
            </a:r>
            <a:endParaRPr lang="ru-RU" dirty="0">
              <a:solidFill>
                <a:schemeClr val="bg1"/>
              </a:solidFill>
              <a:latin typeface="Cascadia Code SemiLight" pitchFamily="49" charset="0"/>
              <a:cs typeface="Cascadia Code SemiLight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  <a:ln w="38100" cap="rnd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100000" t="-60000" r="100000" b="20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100000" t="100000" r="100000" b="10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457</TotalTime>
  <Words>544</Words>
  <Application>Microsoft Office PowerPoint</Application>
  <PresentationFormat>Экран (4:3)</PresentationFormat>
  <Paragraphs>96</Paragraphs>
  <Slides>27</Slides>
  <Notes>2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27</vt:i4>
      </vt:variant>
    </vt:vector>
  </HeadingPairs>
  <TitlesOfParts>
    <vt:vector size="28" baseType="lpstr">
      <vt:lpstr>Office Theme</vt:lpstr>
      <vt:lpstr>Занятие 1. Пиксель → цвет → нейрон Как машина учится видеть </vt:lpstr>
      <vt:lpstr>Орг моменты </vt:lpstr>
      <vt:lpstr>План занятия</vt:lpstr>
      <vt:lpstr>Мотивейшен</vt:lpstr>
      <vt:lpstr>Что такое этот ваш МЛ?..</vt:lpstr>
      <vt:lpstr>Искусственный нейрон Что же учится в машине?</vt:lpstr>
      <vt:lpstr>Слайд 7</vt:lpstr>
      <vt:lpstr>Слайд 8</vt:lpstr>
      <vt:lpstr>Нейронная сеть</vt:lpstr>
      <vt:lpstr>Функции активации</vt:lpstr>
      <vt:lpstr>Ступенчатая функция</vt:lpstr>
      <vt:lpstr>Sigmoid</vt:lpstr>
      <vt:lpstr>Tanh</vt:lpstr>
      <vt:lpstr>ReLu</vt:lpstr>
      <vt:lpstr>Softmax</vt:lpstr>
      <vt:lpstr>КОДИМ! </vt:lpstr>
      <vt:lpstr>Слайд 17</vt:lpstr>
      <vt:lpstr>Как компьютер работает с изображениями?</vt:lpstr>
      <vt:lpstr>OpenCV Снова кодить…</vt:lpstr>
      <vt:lpstr>Слайд 20</vt:lpstr>
      <vt:lpstr>Масштабирование: сжатие и увеличение</vt:lpstr>
      <vt:lpstr>Методы</vt:lpstr>
      <vt:lpstr>Цветовые пространства</vt:lpstr>
      <vt:lpstr>Пространство HSV</vt:lpstr>
      <vt:lpstr>Цветовые маски</vt:lpstr>
      <vt:lpstr>ДЗ-шечка</vt:lpstr>
      <vt:lpstr>Thanks for your attention!)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Занятие 1. Пиксель → цвет → нейрон: как машина учится видеть </dc:title>
  <dc:creator>Вера Пономаренко</dc:creator>
  <cp:lastModifiedBy>Вера Пономаренко</cp:lastModifiedBy>
  <cp:revision>29</cp:revision>
  <dcterms:created xsi:type="dcterms:W3CDTF">2026-09-19T16:29:54Z</dcterms:created>
  <dcterms:modified xsi:type="dcterms:W3CDTF">2026-09-21T19:40:02Z</dcterms:modified>
</cp:coreProperties>
</file>